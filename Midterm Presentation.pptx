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y="5143500" cx="9144000"/>
  <p:notesSz cx="6858000" cy="9144000"/>
  <p:embeddedFontLst>
    <p:embeddedFont>
      <p:font typeface="Roboto"/>
      <p:regular r:id="rId35"/>
      <p:bold r:id="rId36"/>
      <p:italic r:id="rId37"/>
      <p:boldItalic r:id="rId38"/>
    </p:embeddedFont>
    <p:embeddedFont>
      <p:font typeface="Merriweather"/>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Alisa Teig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B676157-E2D3-4444-884D-3D26FDBFB7DE}">
  <a:tblStyle styleId="{1B676157-E2D3-4444-884D-3D26FDBFB7D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7C8A41F-9A00-470D-AF53-0C5FD764C685}"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erriweather-bold.fntdata"/><Relationship Id="rId20" Type="http://schemas.openxmlformats.org/officeDocument/2006/relationships/slide" Target="slides/slide13.xml"/><Relationship Id="rId42" Type="http://schemas.openxmlformats.org/officeDocument/2006/relationships/font" Target="fonts/Merriweather-boldItalic.fntdata"/><Relationship Id="rId41" Type="http://schemas.openxmlformats.org/officeDocument/2006/relationships/font" Target="fonts/Merriweather-italic.fnt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font" Target="fonts/Roboto-regular.fntdata"/><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font" Target="fonts/Roboto-italic.fntdata"/><Relationship Id="rId14" Type="http://schemas.openxmlformats.org/officeDocument/2006/relationships/slide" Target="slides/slide7.xml"/><Relationship Id="rId36" Type="http://schemas.openxmlformats.org/officeDocument/2006/relationships/font" Target="fonts/Roboto-bold.fntdata"/><Relationship Id="rId17" Type="http://schemas.openxmlformats.org/officeDocument/2006/relationships/slide" Target="slides/slide10.xml"/><Relationship Id="rId39" Type="http://schemas.openxmlformats.org/officeDocument/2006/relationships/font" Target="fonts/Merriweather-regular.fntdata"/><Relationship Id="rId16" Type="http://schemas.openxmlformats.org/officeDocument/2006/relationships/slide" Target="slides/slide9.xml"/><Relationship Id="rId38" Type="http://schemas.openxmlformats.org/officeDocument/2006/relationships/font" Target="fonts/Roboto-boldItalic.fntdata"/><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20T16:49:21.376">
    <p:pos x="2784" y="148"/>
    <p:text>maybe a little bit less text?</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10-20T16:28:27.526">
    <p:pos x="6000" y="0"/>
    <p:text>I turned it into the bullet points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h32a9156a05b4f0fe_2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h32a9156a05b4f0fe_2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h32a9156a05b4f0fe_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h32a9156a05b4f0fe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h32a9156a05b4f0fe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h32a9156a05b4f0fe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h3e5272c551addf7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h3e5272c551addf7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2013cd7444f128af_0_1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2013cd7444f128af_0_1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h94476cd1ee8336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h94476cd1ee8336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h2013cd7444f128af_0_1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h2013cd7444f128af_0_1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0C274A"/>
                </a:solidFill>
                <a:highlight>
                  <a:srgbClr val="E8F3FE"/>
                </a:highlight>
              </a:rPr>
              <a:t>To evaluate the effect of peer group size on Machine Learning models, models were trained using samples of 30, 50, 100, and 200 records drawn from same larger peer populations. Each model’s anomaly ranking was compared with the ranking produced by the full-peer reference model. As training size size increased, agreement with the reference model improved and variability across repeated samples decreased, showing that peer-group size has a measurable effect on the consistency and representativeness of the anomaly rankings. </a:t>
            </a:r>
            <a:endParaRPr sz="1200">
              <a:solidFill>
                <a:srgbClr val="0C274A"/>
              </a:solidFill>
              <a:highlight>
                <a:srgbClr val="E8F3FE"/>
              </a:highlight>
            </a:endParaRPr>
          </a:p>
          <a:p>
            <a:pPr indent="0" lvl="0" marL="0" rtl="0" algn="l">
              <a:spcBef>
                <a:spcPts val="0"/>
              </a:spcBef>
              <a:spcAft>
                <a:spcPts val="0"/>
              </a:spcAft>
              <a:buNone/>
            </a:pPr>
            <a:r>
              <a:rPr lang="en" sz="1200">
                <a:solidFill>
                  <a:srgbClr val="0C274A"/>
                </a:solidFill>
                <a:highlight>
                  <a:srgbClr val="E8F3FE"/>
                </a:highlight>
              </a:rPr>
              <a:t>In addition, different random seeds were tested to check whether model rankings remained stable across repeated runs. As training size increased, agreement with the reference model has improved and variability decreased, while the random seed tests showed minor improvements with the growth of the group size</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h94476cd1ee8336f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h94476cd1ee8336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h94476cd1ee8336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h94476cd1ee8336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h133be9e5787a73d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h133be9e5787a73d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raw pearson correlation: driven by extreme rows, but spearman, while handling skew well, will pool the rows and ignore peer groups. the latter also uses ranks when IsoForest and DBSCAN use log-scared values, so spearman will not show whether a log transformation helped. but, a log matching pearson matching spearman would be good evidence that a transformation is appropriate...... *</a:t>
            </a:r>
            <a:endParaRPr/>
          </a:p>
          <a:p>
            <a:pPr indent="0" lvl="0" marL="0" rtl="0" algn="l">
              <a:spcBef>
                <a:spcPts val="0"/>
              </a:spcBef>
              <a:spcAft>
                <a:spcPts val="0"/>
              </a:spcAft>
              <a:buClr>
                <a:schemeClr val="dk1"/>
              </a:buClr>
              <a:buSzPts val="1100"/>
              <a:buFont typeface="Arial"/>
              <a:buNone/>
            </a:pPr>
            <a:r>
              <a:rPr lang="en"/>
              <a:t># raw columns and not final features mean we don't know for sure if the final features are redundant</a:t>
            </a:r>
            <a:endParaRPr/>
          </a:p>
          <a:p>
            <a:pPr indent="0" lvl="0" marL="0" rtl="0" algn="l">
              <a:spcBef>
                <a:spcPts val="0"/>
              </a:spcBef>
              <a:spcAft>
                <a:spcPts val="0"/>
              </a:spcAft>
              <a:buClr>
                <a:schemeClr val="dk1"/>
              </a:buClr>
              <a:buSzPts val="1100"/>
              <a:buFont typeface="Arial"/>
              <a:buNone/>
            </a:pPr>
            <a:r>
              <a:rPr lang="en"/>
              <a:t># at a first glance, tot_srvcs - tot_benes in pearson is .43 when it's .87 in spearman</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h133be9e5787a73d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h133be9e5787a73d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There are two clear blocks, with less than seven "actually </a:t>
            </a:r>
            <a:r>
              <a:rPr lang="en"/>
              <a:t>independent</a:t>
            </a:r>
            <a:r>
              <a:rPr lang="en"/>
              <a:t>" signals...</a:t>
            </a:r>
            <a:endParaRPr/>
          </a:p>
          <a:p>
            <a:pPr indent="0" lvl="0" marL="0" rtl="0" algn="l">
              <a:spcBef>
                <a:spcPts val="0"/>
              </a:spcBef>
              <a:spcAft>
                <a:spcPts val="0"/>
              </a:spcAft>
              <a:buClr>
                <a:schemeClr val="dk1"/>
              </a:buClr>
              <a:buSzPts val="1100"/>
              <a:buFont typeface="Arial"/>
              <a:buNone/>
            </a:pPr>
            <a:r>
              <a:rPr lang="en"/>
              <a:t># this transformation aligns better with tot_srvcs - tot_benes being 0.8. Log transform pearson in agreeance with spearman means we are now describing typical rows and not outliers. </a:t>
            </a:r>
            <a:endParaRPr/>
          </a:p>
          <a:p>
            <a:pPr indent="0" lvl="0" marL="0" rtl="0" algn="l">
              <a:spcBef>
                <a:spcPts val="0"/>
              </a:spcBef>
              <a:spcAft>
                <a:spcPts val="0"/>
              </a:spcAft>
              <a:buNone/>
            </a:pPr>
            <a:r>
              <a:rPr lang="en"/>
              <a:t># MAD ~ 1.07% missing for every feature, where l_p_r and l_s_p_b_r used to be ~%12 and ~%29 missing a z-score (where the typical spread is exactly 0 because the providers have identical value)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h133be9e5787a73df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h133be9e5787a73df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are two clear blocks, with less than seven "actually independendent" signals...</a:t>
            </a:r>
            <a:endParaRPr/>
          </a:p>
          <a:p>
            <a:pPr indent="0" lvl="0" marL="0" rtl="0" algn="l">
              <a:spcBef>
                <a:spcPts val="0"/>
              </a:spcBef>
              <a:spcAft>
                <a:spcPts val="0"/>
              </a:spcAft>
              <a:buNone/>
            </a:pPr>
            <a:r>
              <a:rPr lang="en"/>
              <a:t># this transformation aligns better with tot_srvcs - tot_benes being 0.8. Log transform pearson in agreeance with spearman means we are now describing typical rows and not outliers. </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h2877b37c8e41781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h2877b37c8e41781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sz="1400">
              <a:solidFill>
                <a:schemeClr val="dk1"/>
              </a:solidFill>
            </a:endParaRPr>
          </a:p>
          <a:p>
            <a:pPr indent="0" lvl="0" marL="0" rtl="0" algn="l">
              <a:lnSpc>
                <a:spcPct val="115000"/>
              </a:lnSpc>
              <a:spcBef>
                <a:spcPts val="1200"/>
              </a:spcBef>
              <a:spcAft>
                <a:spcPts val="1200"/>
              </a:spcAft>
              <a:buNone/>
            </a:pPr>
            <a:r>
              <a:t/>
            </a:r>
            <a:endParaRPr sz="1400">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h2877b37c8e417814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h2877b37c8e41781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h2877b37c8e41781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h2877b37c8e41781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h2877b37c8e41781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h2877b37c8e41781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h133be9e5787a73df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h133be9e5787a73df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h71b68baf1245f1b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h71b68baf1245f1b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h3e5272c551addf7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h3e5272c551addf7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h71b68baf1245f1b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h71b68baf1245f1b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h3e5272c551addf71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h3e5272c551addf71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h2013cd7444f128af_0_10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h2013cd7444f128af_0_10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h2013cd7444f128af_0_10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h2013cd7444f128af_0_10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h2013cd7444f128af_0_1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h2013cd7444f128af_0_1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Clr>
                <a:schemeClr val="dk1"/>
              </a:buClr>
              <a:buSzPts val="1100"/>
              <a:buFont typeface="Arial"/>
              <a:buNone/>
            </a:pPr>
            <a:r>
              <a:rPr lang="en" sz="1500">
                <a:solidFill>
                  <a:srgbClr val="31394D"/>
                </a:solidFill>
                <a:latin typeface="Roboto"/>
                <a:ea typeface="Roboto"/>
                <a:cs typeface="Roboto"/>
                <a:sym typeface="Roboto"/>
              </a:rPr>
              <a:t>IF Raw Score is calculated directly by Isolation Forest from the average path length across many random isolation trees. Records that require fewer splits to isolate are considered more unusual. In my code I have inverted the scores by multiplying them by -1, so larger values represent stronger anomalies. Originally, lower means higher anomaly.</a:t>
            </a:r>
            <a:endParaRPr sz="1500">
              <a:solidFill>
                <a:srgbClr val="31394D"/>
              </a:solidFill>
              <a:latin typeface="Roboto"/>
              <a:ea typeface="Roboto"/>
              <a:cs typeface="Roboto"/>
              <a:sym typeface="Roboto"/>
            </a:endParaRPr>
          </a:p>
          <a:p>
            <a:pPr indent="0" lvl="0" marL="457200" rtl="0" algn="l">
              <a:lnSpc>
                <a:spcPct val="115000"/>
              </a:lnSpc>
              <a:spcBef>
                <a:spcPts val="1200"/>
              </a:spcBef>
              <a:spcAft>
                <a:spcPts val="1200"/>
              </a:spcAft>
              <a:buClr>
                <a:schemeClr val="dk1"/>
              </a:buClr>
              <a:buSzPts val="1100"/>
              <a:buFont typeface="Arial"/>
              <a:buNone/>
            </a:pPr>
            <a:r>
              <a:rPr lang="en" sz="1500">
                <a:solidFill>
                  <a:srgbClr val="31394D"/>
                </a:solidFill>
                <a:latin typeface="Roboto"/>
                <a:ea typeface="Roboto"/>
                <a:cs typeface="Roboto"/>
                <a:sym typeface="Roboto"/>
              </a:rPr>
              <a:t>Anomaly score takes the raw scores that are ranked within the same peer group using built in pandas function rank(pct=True) * 100. This converts the raw model output into a peer relative percentile from 0-100, where a score near 100 means the record ranks among the most anomalous in that peer group.</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h32a9156a05b4f0fe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h32a9156a05b4f0fe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h32a9156a05b4f0fe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h32a9156a05b4f0fe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comments" Target="../comments/commen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comments" Target="../comments/commen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Midterm Presentation</a:t>
            </a:r>
            <a:endParaRPr/>
          </a:p>
        </p:txBody>
      </p:sp>
      <p:sp>
        <p:nvSpPr>
          <p:cNvPr id="65" name="Google Shape;65;p13"/>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Tyson, Diana, Erica, Eli, Alisa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Overview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Diana</a:t>
            </a:r>
            <a:endParaRPr/>
          </a:p>
        </p:txBody>
      </p:sp>
      <p:sp>
        <p:nvSpPr>
          <p:cNvPr id="71" name="Google Shape;71;p1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500">
                <a:solidFill>
                  <a:srgbClr val="000000"/>
                </a:solidFill>
              </a:rPr>
              <a:t>CMS Medicare Physician &amp; Other Practitioners - 2024</a:t>
            </a:r>
            <a:endParaRPr b="1" sz="1500">
              <a:solidFill>
                <a:srgbClr val="000000"/>
              </a:solidFill>
            </a:endParaRPr>
          </a:p>
          <a:p>
            <a:pPr indent="-323850" lvl="0" marL="457200" rtl="0" algn="l">
              <a:spcBef>
                <a:spcPts val="1200"/>
              </a:spcBef>
              <a:spcAft>
                <a:spcPts val="0"/>
              </a:spcAft>
              <a:buClr>
                <a:srgbClr val="000000"/>
              </a:buClr>
              <a:buSzPts val="1500"/>
              <a:buChar char="●"/>
            </a:pPr>
            <a:r>
              <a:rPr lang="en" sz="1500">
                <a:solidFill>
                  <a:srgbClr val="000000"/>
                </a:solidFill>
              </a:rPr>
              <a:t>9,781,673 records and 28 original columns</a:t>
            </a:r>
            <a:endParaRPr sz="1500">
              <a:solidFill>
                <a:srgbClr val="000000"/>
              </a:solidFill>
            </a:endParaRPr>
          </a:p>
          <a:p>
            <a:pPr indent="-323850" lvl="0" marL="457200" rtl="0" algn="l">
              <a:spcBef>
                <a:spcPts val="0"/>
              </a:spcBef>
              <a:spcAft>
                <a:spcPts val="0"/>
              </a:spcAft>
              <a:buClr>
                <a:srgbClr val="000000"/>
              </a:buClr>
              <a:buSzPts val="1500"/>
              <a:buChar char="●"/>
            </a:pPr>
            <a:r>
              <a:rPr lang="en" sz="1500">
                <a:solidFill>
                  <a:srgbClr val="000000"/>
                </a:solidFill>
              </a:rPr>
              <a:t>No exact duplicate rows identified</a:t>
            </a:r>
            <a:endParaRPr sz="1500">
              <a:solidFill>
                <a:srgbClr val="000000"/>
              </a:solidFill>
            </a:endParaRPr>
          </a:p>
          <a:p>
            <a:pPr indent="-323850" lvl="0" marL="457200" rtl="0" algn="l">
              <a:spcBef>
                <a:spcPts val="0"/>
              </a:spcBef>
              <a:spcAft>
                <a:spcPts val="0"/>
              </a:spcAft>
              <a:buClr>
                <a:srgbClr val="000000"/>
              </a:buClr>
              <a:buSzPts val="1500"/>
              <a:buChar char="●"/>
            </a:pPr>
            <a:r>
              <a:rPr lang="en" sz="1500">
                <a:solidFill>
                  <a:srgbClr val="000000"/>
                </a:solidFill>
              </a:rPr>
              <a:t>Reviewed column meanings, data types, unique values, and missingness</a:t>
            </a:r>
            <a:endParaRPr sz="1500">
              <a:solidFill>
                <a:srgbClr val="000000"/>
              </a:solidFill>
            </a:endParaRPr>
          </a:p>
          <a:p>
            <a:pPr indent="0" lvl="0" marL="457200" rtl="0" algn="l">
              <a:spcBef>
                <a:spcPts val="1200"/>
              </a:spcBef>
              <a:spcAft>
                <a:spcPts val="1200"/>
              </a:spcAft>
              <a:buNone/>
            </a:pPr>
            <a:r>
              <a:t/>
            </a:r>
            <a:endParaRPr>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System/Workflow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Diana</a:t>
            </a:r>
            <a:endParaRPr/>
          </a:p>
        </p:txBody>
      </p:sp>
      <p:pic>
        <p:nvPicPr>
          <p:cNvPr id="77" name="Google Shape;77;p15" title="Untitled.png"/>
          <p:cNvPicPr preferRelativeResize="0"/>
          <p:nvPr/>
        </p:nvPicPr>
        <p:blipFill rotWithShape="1">
          <a:blip r:embed="rId3">
            <a:alphaModFix/>
          </a:blip>
          <a:srcRect b="3800" l="27678" r="27507" t="0"/>
          <a:stretch/>
        </p:blipFill>
        <p:spPr>
          <a:xfrm>
            <a:off x="5263122" y="0"/>
            <a:ext cx="3194751"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Cleaning</a:t>
            </a:r>
            <a:endParaRPr/>
          </a:p>
          <a:p>
            <a:pPr indent="0" lvl="0" marL="0" rtl="0" algn="l">
              <a:spcBef>
                <a:spcPts val="0"/>
              </a:spcBef>
              <a:spcAft>
                <a:spcPts val="0"/>
              </a:spcAft>
              <a:buNone/>
            </a:pPr>
            <a:r>
              <a:t/>
            </a:r>
            <a:endParaRPr/>
          </a:p>
          <a:p>
            <a:pPr indent="0" lvl="0" marL="0" rtl="0" algn="l">
              <a:spcBef>
                <a:spcPts val="0"/>
              </a:spcBef>
              <a:spcAft>
                <a:spcPts val="0"/>
              </a:spcAft>
              <a:buNone/>
            </a:pPr>
            <a:r>
              <a:rPr i="1" lang="en" sz="2600"/>
              <a:t>Alisa</a:t>
            </a:r>
            <a:endParaRPr i="1" sz="2600"/>
          </a:p>
          <a:p>
            <a:pPr indent="0" lvl="0" marL="0" rtl="0" algn="l">
              <a:spcBef>
                <a:spcPts val="0"/>
              </a:spcBef>
              <a:spcAft>
                <a:spcPts val="0"/>
              </a:spcAft>
              <a:buNone/>
            </a:pPr>
            <a:r>
              <a:t/>
            </a:r>
            <a:endParaRPr/>
          </a:p>
        </p:txBody>
      </p:sp>
      <p:sp>
        <p:nvSpPr>
          <p:cNvPr id="83" name="Google Shape;83;p16"/>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Char char="●"/>
            </a:pPr>
            <a:r>
              <a:rPr lang="en" sz="1500">
                <a:solidFill>
                  <a:srgbClr val="000000"/>
                </a:solidFill>
              </a:rPr>
              <a:t>Removed logically invalid rows:</a:t>
            </a:r>
            <a:endParaRPr sz="1500">
              <a:solidFill>
                <a:srgbClr val="000000"/>
              </a:solidFill>
            </a:endParaRPr>
          </a:p>
          <a:p>
            <a:pPr indent="-323850" lvl="1" marL="914400" rtl="0" algn="l">
              <a:spcBef>
                <a:spcPts val="0"/>
              </a:spcBef>
              <a:spcAft>
                <a:spcPts val="0"/>
              </a:spcAft>
              <a:buClr>
                <a:srgbClr val="000000"/>
              </a:buClr>
              <a:buSzPts val="1500"/>
              <a:buChar char="○"/>
            </a:pPr>
            <a:r>
              <a:rPr lang="en" sz="1500">
                <a:solidFill>
                  <a:srgbClr val="000000"/>
                </a:solidFill>
              </a:rPr>
              <a:t>non-US providers</a:t>
            </a:r>
            <a:endParaRPr sz="1500">
              <a:solidFill>
                <a:srgbClr val="000000"/>
              </a:solidFill>
            </a:endParaRPr>
          </a:p>
          <a:p>
            <a:pPr indent="-323850" lvl="1" marL="914400" rtl="0" algn="l">
              <a:spcBef>
                <a:spcPts val="0"/>
              </a:spcBef>
              <a:spcAft>
                <a:spcPts val="0"/>
              </a:spcAft>
              <a:buClr>
                <a:srgbClr val="000000"/>
              </a:buClr>
              <a:buSzPts val="1500"/>
              <a:buChar char="○"/>
            </a:pPr>
            <a:r>
              <a:rPr lang="en" sz="1500">
                <a:solidFill>
                  <a:srgbClr val="000000"/>
                </a:solidFill>
              </a:rPr>
              <a:t>Tot_Srvcs &lt; Tot_Benes</a:t>
            </a:r>
            <a:endParaRPr sz="1500">
              <a:solidFill>
                <a:srgbClr val="000000"/>
              </a:solidFill>
            </a:endParaRPr>
          </a:p>
          <a:p>
            <a:pPr indent="-323850" lvl="1" marL="914400" rtl="0" algn="l">
              <a:spcBef>
                <a:spcPts val="0"/>
              </a:spcBef>
              <a:spcAft>
                <a:spcPts val="0"/>
              </a:spcAft>
              <a:buClr>
                <a:srgbClr val="000000"/>
              </a:buClr>
              <a:buSzPts val="1500"/>
              <a:buChar char="○"/>
            </a:pPr>
            <a:r>
              <a:rPr lang="en" sz="1500">
                <a:solidFill>
                  <a:srgbClr val="000000"/>
                </a:solidFill>
              </a:rPr>
              <a:t>Tot_Bene_Day_Srvcs &gt; Tot_Srvcs</a:t>
            </a:r>
            <a:endParaRPr sz="1500">
              <a:solidFill>
                <a:srgbClr val="000000"/>
              </a:solidFill>
            </a:endParaRPr>
          </a:p>
          <a:p>
            <a:pPr indent="-323850" lvl="1" marL="914400" rtl="0" algn="l">
              <a:spcBef>
                <a:spcPts val="0"/>
              </a:spcBef>
              <a:spcAft>
                <a:spcPts val="0"/>
              </a:spcAft>
              <a:buClr>
                <a:srgbClr val="000000"/>
              </a:buClr>
              <a:buSzPts val="1500"/>
              <a:buChar char="○"/>
            </a:pPr>
            <a:r>
              <a:rPr lang="en" sz="1500">
                <a:solidFill>
                  <a:srgbClr val="000000"/>
                </a:solidFill>
              </a:rPr>
              <a:t>allowed amount ≤ 0</a:t>
            </a:r>
            <a:endParaRPr sz="1500">
              <a:solidFill>
                <a:srgbClr val="000000"/>
              </a:solidFill>
            </a:endParaRPr>
          </a:p>
          <a:p>
            <a:pPr indent="-323850" lvl="0" marL="457200" rtl="0" algn="l">
              <a:spcBef>
                <a:spcPts val="0"/>
              </a:spcBef>
              <a:spcAft>
                <a:spcPts val="0"/>
              </a:spcAft>
              <a:buClr>
                <a:srgbClr val="000000"/>
              </a:buClr>
              <a:buSzPts val="1500"/>
              <a:buChar char="●"/>
            </a:pPr>
            <a:r>
              <a:rPr lang="en" sz="1500">
                <a:solidFill>
                  <a:srgbClr val="000000"/>
                </a:solidFill>
              </a:rPr>
              <a:t>9,781,161 rows left (512 removed)</a:t>
            </a:r>
            <a:endParaRPr sz="1500">
              <a:solidFill>
                <a:srgbClr val="000000"/>
              </a:solidFill>
            </a:endParaRPr>
          </a:p>
          <a:p>
            <a:pPr indent="-323850" lvl="0" marL="457200" rtl="0" algn="l">
              <a:spcBef>
                <a:spcPts val="0"/>
              </a:spcBef>
              <a:spcAft>
                <a:spcPts val="0"/>
              </a:spcAft>
              <a:buClr>
                <a:srgbClr val="000000"/>
              </a:buClr>
              <a:buSzPts val="1500"/>
              <a:buChar char="●"/>
            </a:pPr>
            <a:r>
              <a:rPr lang="en" sz="1500">
                <a:solidFill>
                  <a:srgbClr val="000000"/>
                </a:solidFill>
              </a:rPr>
              <a:t>row_id added after cleaning so all models can be joined</a:t>
            </a:r>
            <a:endParaRPr sz="15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Analysis that drove decisions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Tyson</a:t>
            </a:r>
            <a:endParaRPr/>
          </a:p>
        </p:txBody>
      </p:sp>
      <p:sp>
        <p:nvSpPr>
          <p:cNvPr id="89" name="Google Shape;89;p17"/>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23850" lvl="0" marL="457200" rtl="0" algn="l">
              <a:lnSpc>
                <a:spcPct val="150000"/>
              </a:lnSpc>
              <a:spcBef>
                <a:spcPts val="0"/>
              </a:spcBef>
              <a:spcAft>
                <a:spcPts val="0"/>
              </a:spcAft>
              <a:buClr>
                <a:srgbClr val="000000"/>
              </a:buClr>
              <a:buSzPts val="1500"/>
              <a:buChar char="●"/>
            </a:pPr>
            <a:r>
              <a:rPr lang="en" sz="1500">
                <a:solidFill>
                  <a:srgbClr val="000000"/>
                </a:solidFill>
              </a:rPr>
              <a:t>Are outliers really present? Yes</a:t>
            </a:r>
            <a:endParaRPr sz="1500">
              <a:solidFill>
                <a:srgbClr val="000000"/>
              </a:solidFill>
            </a:endParaRPr>
          </a:p>
          <a:p>
            <a:pPr indent="-323850" lvl="0" marL="457200" rtl="0" algn="l">
              <a:lnSpc>
                <a:spcPct val="150000"/>
              </a:lnSpc>
              <a:spcBef>
                <a:spcPts val="0"/>
              </a:spcBef>
              <a:spcAft>
                <a:spcPts val="0"/>
              </a:spcAft>
              <a:buClr>
                <a:srgbClr val="000000"/>
              </a:buClr>
              <a:buSzPts val="1500"/>
              <a:buChar char="●"/>
            </a:pPr>
            <a:r>
              <a:rPr lang="en" sz="1500">
                <a:solidFill>
                  <a:srgbClr val="000000"/>
                </a:solidFill>
              </a:rPr>
              <a:t>What kind of outliers are there?</a:t>
            </a:r>
            <a:endParaRPr sz="1500">
              <a:solidFill>
                <a:srgbClr val="000000"/>
              </a:solidFill>
            </a:endParaRPr>
          </a:p>
          <a:p>
            <a:pPr indent="-323850" lvl="1" marL="914400" rtl="0" algn="l">
              <a:lnSpc>
                <a:spcPct val="150000"/>
              </a:lnSpc>
              <a:spcBef>
                <a:spcPts val="0"/>
              </a:spcBef>
              <a:spcAft>
                <a:spcPts val="0"/>
              </a:spcAft>
              <a:buClr>
                <a:srgbClr val="000000"/>
              </a:buClr>
              <a:buSzPts val="1500"/>
              <a:buChar char="○"/>
            </a:pPr>
            <a:r>
              <a:rPr lang="en" sz="1500">
                <a:solidFill>
                  <a:srgbClr val="000000"/>
                </a:solidFill>
              </a:rPr>
              <a:t>Amount of Unique providers</a:t>
            </a:r>
            <a:endParaRPr sz="1500">
              <a:solidFill>
                <a:srgbClr val="000000"/>
              </a:solidFill>
            </a:endParaRPr>
          </a:p>
          <a:p>
            <a:pPr indent="-323850" lvl="1" marL="914400" rtl="0" algn="l">
              <a:lnSpc>
                <a:spcPct val="150000"/>
              </a:lnSpc>
              <a:spcBef>
                <a:spcPts val="0"/>
              </a:spcBef>
              <a:spcAft>
                <a:spcPts val="0"/>
              </a:spcAft>
              <a:buClr>
                <a:srgbClr val="000000"/>
              </a:buClr>
              <a:buSzPts val="1500"/>
              <a:buChar char="○"/>
            </a:pPr>
            <a:r>
              <a:rPr lang="en" sz="1500">
                <a:solidFill>
                  <a:srgbClr val="000000"/>
                </a:solidFill>
              </a:rPr>
              <a:t>Average Charge</a:t>
            </a:r>
            <a:endParaRPr sz="1500">
              <a:solidFill>
                <a:srgbClr val="000000"/>
              </a:solidFill>
            </a:endParaRPr>
          </a:p>
          <a:p>
            <a:pPr indent="-323850" lvl="0" marL="457200" rtl="0" algn="l">
              <a:lnSpc>
                <a:spcPct val="150000"/>
              </a:lnSpc>
              <a:spcBef>
                <a:spcPts val="0"/>
              </a:spcBef>
              <a:spcAft>
                <a:spcPts val="0"/>
              </a:spcAft>
              <a:buClr>
                <a:srgbClr val="000000"/>
              </a:buClr>
              <a:buSzPts val="1500"/>
              <a:buChar char="●"/>
            </a:pPr>
            <a:r>
              <a:rPr lang="en" sz="1500">
                <a:solidFill>
                  <a:srgbClr val="000000"/>
                </a:solidFill>
              </a:rPr>
              <a:t>What do the outliers look like?</a:t>
            </a:r>
            <a:endParaRPr sz="1500">
              <a:solidFill>
                <a:srgbClr val="000000"/>
              </a:solidFill>
            </a:endParaRPr>
          </a:p>
        </p:txBody>
      </p:sp>
      <p:pic>
        <p:nvPicPr>
          <p:cNvPr id="90" name="Google Shape;90;p17" title="Average_Charge_of_Chiropractic_light.png"/>
          <p:cNvPicPr preferRelativeResize="0"/>
          <p:nvPr/>
        </p:nvPicPr>
        <p:blipFill>
          <a:blip r:embed="rId3">
            <a:alphaModFix/>
          </a:blip>
          <a:stretch>
            <a:fillRect/>
          </a:stretch>
        </p:blipFill>
        <p:spPr>
          <a:xfrm>
            <a:off x="4415788" y="2363625"/>
            <a:ext cx="4624174" cy="21517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Analysis that drove decisions</a:t>
            </a:r>
            <a:endParaRPr/>
          </a:p>
          <a:p>
            <a:pPr indent="0" lvl="0" marL="0" rtl="0" algn="l">
              <a:spcBef>
                <a:spcPts val="0"/>
              </a:spcBef>
              <a:spcAft>
                <a:spcPts val="0"/>
              </a:spcAft>
              <a:buNone/>
            </a:pPr>
            <a:r>
              <a:rPr lang="en"/>
              <a:t>Diana</a:t>
            </a:r>
            <a:endParaRPr/>
          </a:p>
        </p:txBody>
      </p:sp>
      <p:sp>
        <p:nvSpPr>
          <p:cNvPr id="96" name="Google Shape;96;p18"/>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b="1" lang="en" sz="1500">
                <a:solidFill>
                  <a:srgbClr val="000000"/>
                </a:solidFill>
              </a:rPr>
              <a:t>Peer Group Methodology</a:t>
            </a:r>
            <a:endParaRPr b="1" sz="1500">
              <a:solidFill>
                <a:srgbClr val="000000"/>
              </a:solidFill>
            </a:endParaRPr>
          </a:p>
          <a:p>
            <a:pPr indent="0" lvl="0" marL="457200" rtl="0" algn="l">
              <a:spcBef>
                <a:spcPts val="1200"/>
              </a:spcBef>
              <a:spcAft>
                <a:spcPts val="0"/>
              </a:spcAft>
              <a:buNone/>
            </a:pPr>
            <a:r>
              <a:rPr lang="en">
                <a:solidFill>
                  <a:srgbClr val="000000"/>
                </a:solidFill>
              </a:rPr>
              <a:t>Primary Peer Group:</a:t>
            </a:r>
            <a:endParaRPr>
              <a:solidFill>
                <a:srgbClr val="000000"/>
              </a:solidFill>
            </a:endParaRPr>
          </a:p>
          <a:p>
            <a:pPr indent="0" lvl="0" marL="457200" rtl="0" algn="l">
              <a:spcBef>
                <a:spcPts val="1200"/>
              </a:spcBef>
              <a:spcAft>
                <a:spcPts val="0"/>
              </a:spcAft>
              <a:buNone/>
            </a:pPr>
            <a:r>
              <a:rPr lang="en">
                <a:solidFill>
                  <a:srgbClr val="000000"/>
                </a:solidFill>
              </a:rPr>
              <a:t>Provider Type + HCPCS Code + Place of Service</a:t>
            </a:r>
            <a:endParaRPr>
              <a:solidFill>
                <a:srgbClr val="000000"/>
              </a:solidFill>
            </a:endParaRPr>
          </a:p>
          <a:p>
            <a:pPr indent="0" lvl="0" marL="457200" rtl="0" algn="l">
              <a:spcBef>
                <a:spcPts val="1200"/>
              </a:spcBef>
              <a:spcAft>
                <a:spcPts val="0"/>
              </a:spcAft>
              <a:buNone/>
            </a:pPr>
            <a:r>
              <a:rPr lang="en">
                <a:solidFill>
                  <a:srgbClr val="000000"/>
                </a:solidFill>
              </a:rPr>
              <a:t>Provider Type controls for differences between specialities</a:t>
            </a:r>
            <a:endParaRPr>
              <a:solidFill>
                <a:srgbClr val="000000"/>
              </a:solidFill>
            </a:endParaRPr>
          </a:p>
          <a:p>
            <a:pPr indent="0" lvl="0" marL="457200" rtl="0" algn="l">
              <a:spcBef>
                <a:spcPts val="1200"/>
              </a:spcBef>
              <a:spcAft>
                <a:spcPts val="0"/>
              </a:spcAft>
              <a:buNone/>
            </a:pPr>
            <a:r>
              <a:rPr lang="en">
                <a:solidFill>
                  <a:srgbClr val="000000"/>
                </a:solidFill>
              </a:rPr>
              <a:t>HCPCS Code ensures providers are performing the same service</a:t>
            </a:r>
            <a:endParaRPr>
              <a:solidFill>
                <a:srgbClr val="000000"/>
              </a:solidFill>
            </a:endParaRPr>
          </a:p>
          <a:p>
            <a:pPr indent="0" lvl="0" marL="457200" rtl="0" algn="l">
              <a:spcBef>
                <a:spcPts val="1200"/>
              </a:spcBef>
              <a:spcAft>
                <a:spcPts val="1200"/>
              </a:spcAft>
              <a:buNone/>
            </a:pPr>
            <a:r>
              <a:rPr lang="en">
                <a:solidFill>
                  <a:srgbClr val="000000"/>
                </a:solidFill>
              </a:rPr>
              <a:t>Place of Service controls for facility vs. non-facility billing environments</a:t>
            </a:r>
            <a:endParaRPr>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303075" y="206225"/>
            <a:ext cx="3706500" cy="250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eta-squared: </a:t>
            </a:r>
            <a:endParaRPr/>
          </a:p>
          <a:p>
            <a:pPr indent="0" lvl="0" marL="0" rtl="0" algn="l">
              <a:spcBef>
                <a:spcPts val="0"/>
              </a:spcBef>
              <a:spcAft>
                <a:spcPts val="0"/>
              </a:spcAft>
              <a:buNone/>
            </a:pPr>
            <a:r>
              <a:rPr lang="en"/>
              <a:t>HCPCS code explains most payment variation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Eli</a:t>
            </a:r>
            <a:endParaRPr/>
          </a:p>
          <a:p>
            <a:pPr indent="0" lvl="0" marL="0" rtl="0" algn="l">
              <a:spcBef>
                <a:spcPts val="0"/>
              </a:spcBef>
              <a:spcAft>
                <a:spcPts val="0"/>
              </a:spcAft>
              <a:buNone/>
            </a:pPr>
            <a:r>
              <a:t/>
            </a:r>
            <a:endParaRPr/>
          </a:p>
        </p:txBody>
      </p:sp>
      <p:sp>
        <p:nvSpPr>
          <p:cNvPr id="102" name="Google Shape;102;p19"/>
          <p:cNvSpPr txBox="1"/>
          <p:nvPr>
            <p:ph idx="1" type="body"/>
          </p:nvPr>
        </p:nvSpPr>
        <p:spPr>
          <a:xfrm>
            <a:off x="4572000" y="91050"/>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1E1F22"/>
                </a:solidFill>
              </a:rPr>
              <a:t>HCPCS explains the most (0.92), but its 6,471 groups inflate the score, so it does not make providers comparable</a:t>
            </a:r>
            <a:endParaRPr>
              <a:solidFill>
                <a:srgbClr val="1E1F22"/>
              </a:solidFill>
            </a:endParaRPr>
          </a:p>
          <a:p>
            <a:pPr indent="0" lvl="0" marL="0" rtl="0" algn="l">
              <a:spcBef>
                <a:spcPts val="1200"/>
              </a:spcBef>
              <a:spcAft>
                <a:spcPts val="0"/>
              </a:spcAft>
              <a:buNone/>
            </a:pPr>
            <a:r>
              <a:rPr lang="en">
                <a:solidFill>
                  <a:srgbClr val="1E1F22"/>
                </a:solidFill>
              </a:rPr>
              <a:t>Provider Type controls for specialty differences</a:t>
            </a:r>
            <a:endParaRPr>
              <a:solidFill>
                <a:srgbClr val="1E1F22"/>
              </a:solidFill>
            </a:endParaRPr>
          </a:p>
          <a:p>
            <a:pPr indent="0" lvl="0" marL="0" rtl="0" algn="l">
              <a:spcBef>
                <a:spcPts val="1200"/>
              </a:spcBef>
              <a:spcAft>
                <a:spcPts val="0"/>
              </a:spcAft>
              <a:buNone/>
            </a:pPr>
            <a:r>
              <a:rPr lang="en">
                <a:solidFill>
                  <a:srgbClr val="1E1F22"/>
                </a:solidFill>
              </a:rPr>
              <a:t>Place of Service controls for facility vs non-facility billing</a:t>
            </a:r>
            <a:endParaRPr>
              <a:solidFill>
                <a:srgbClr val="1E1F22"/>
              </a:solidFill>
            </a:endParaRPr>
          </a:p>
          <a:p>
            <a:pPr indent="0" lvl="0" marL="0" rtl="0" algn="l">
              <a:spcBef>
                <a:spcPts val="1200"/>
              </a:spcBef>
              <a:spcAft>
                <a:spcPts val="1200"/>
              </a:spcAft>
              <a:buNone/>
            </a:pPr>
            <a:r>
              <a:rPr lang="en">
                <a:solidFill>
                  <a:srgbClr val="1E1F22"/>
                </a:solidFill>
              </a:rPr>
              <a:t>All three stay in the peer group; entity type and RUCA add little</a:t>
            </a:r>
            <a:endParaRPr>
              <a:solidFill>
                <a:srgbClr val="1E1F22"/>
              </a:solidFill>
            </a:endParaRPr>
          </a:p>
        </p:txBody>
      </p:sp>
      <p:pic>
        <p:nvPicPr>
          <p:cNvPr id="103" name="Google Shape;103;p19"/>
          <p:cNvPicPr preferRelativeResize="0"/>
          <p:nvPr/>
        </p:nvPicPr>
        <p:blipFill>
          <a:blip r:embed="rId3">
            <a:alphaModFix/>
          </a:blip>
          <a:stretch>
            <a:fillRect/>
          </a:stretch>
        </p:blipFill>
        <p:spPr>
          <a:xfrm>
            <a:off x="56275" y="2635075"/>
            <a:ext cx="5650975" cy="2476275"/>
          </a:xfrm>
          <a:prstGeom prst="rect">
            <a:avLst/>
          </a:prstGeom>
          <a:noFill/>
          <a:ln>
            <a:noFill/>
          </a:ln>
        </p:spPr>
      </p:pic>
      <p:pic>
        <p:nvPicPr>
          <p:cNvPr id="104" name="Google Shape;104;p19"/>
          <p:cNvPicPr preferRelativeResize="0"/>
          <p:nvPr/>
        </p:nvPicPr>
        <p:blipFill>
          <a:blip r:embed="rId4">
            <a:alphaModFix/>
          </a:blip>
          <a:stretch>
            <a:fillRect/>
          </a:stretch>
        </p:blipFill>
        <p:spPr>
          <a:xfrm>
            <a:off x="5834925" y="2893200"/>
            <a:ext cx="3063150" cy="2033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Analysis that drove decisions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Diana</a:t>
            </a:r>
            <a:endParaRPr/>
          </a:p>
        </p:txBody>
      </p:sp>
      <p:sp>
        <p:nvSpPr>
          <p:cNvPr id="110" name="Google Shape;110;p20"/>
          <p:cNvSpPr txBox="1"/>
          <p:nvPr>
            <p:ph idx="1" type="body"/>
          </p:nvPr>
        </p:nvSpPr>
        <p:spPr>
          <a:xfrm>
            <a:off x="4439825" y="700075"/>
            <a:ext cx="4524300" cy="2991900"/>
          </a:xfrm>
          <a:prstGeom prst="rect">
            <a:avLst/>
          </a:prstGeom>
        </p:spPr>
        <p:txBody>
          <a:bodyPr anchorCtr="0" anchor="t" bIns="91425" lIns="91425" spcFirstLastPara="1" rIns="91425" wrap="square" tIns="91425">
            <a:noAutofit/>
          </a:bodyPr>
          <a:lstStyle/>
          <a:p>
            <a:pPr indent="0" lvl="0" marL="457200" rtl="0" algn="l">
              <a:lnSpc>
                <a:spcPct val="95000"/>
              </a:lnSpc>
              <a:spcBef>
                <a:spcPts val="0"/>
              </a:spcBef>
              <a:spcAft>
                <a:spcPts val="0"/>
              </a:spcAft>
              <a:buSzPts val="688"/>
              <a:buNone/>
            </a:pPr>
            <a:r>
              <a:rPr b="1" lang="en" sz="1500">
                <a:solidFill>
                  <a:srgbClr val="000000"/>
                </a:solidFill>
              </a:rPr>
              <a:t>Peer Group Methodology</a:t>
            </a:r>
            <a:endParaRPr sz="1500" u="sng">
              <a:solidFill>
                <a:srgbClr val="000000"/>
              </a:solidFill>
            </a:endParaRPr>
          </a:p>
          <a:p>
            <a:pPr indent="-323850" lvl="0" marL="457200" rtl="0" algn="l">
              <a:lnSpc>
                <a:spcPct val="95000"/>
              </a:lnSpc>
              <a:spcBef>
                <a:spcPts val="1200"/>
              </a:spcBef>
              <a:spcAft>
                <a:spcPts val="0"/>
              </a:spcAft>
              <a:buClr>
                <a:srgbClr val="000000"/>
              </a:buClr>
              <a:buSzPts val="1500"/>
              <a:buChar char="●"/>
            </a:pPr>
            <a:r>
              <a:rPr lang="en" sz="1500">
                <a:solidFill>
                  <a:srgbClr val="000000"/>
                </a:solidFill>
              </a:rPr>
              <a:t>Tested peer-group sizes of 30, 50, 100, and 200 records.</a:t>
            </a:r>
            <a:endParaRPr sz="1500">
              <a:solidFill>
                <a:srgbClr val="000000"/>
              </a:solidFill>
            </a:endParaRPr>
          </a:p>
          <a:p>
            <a:pPr indent="-323850" lvl="0" marL="457200" rtl="0" algn="l">
              <a:lnSpc>
                <a:spcPct val="95000"/>
              </a:lnSpc>
              <a:spcBef>
                <a:spcPts val="0"/>
              </a:spcBef>
              <a:spcAft>
                <a:spcPts val="0"/>
              </a:spcAft>
              <a:buClr>
                <a:srgbClr val="000000"/>
              </a:buClr>
              <a:buSzPts val="1500"/>
              <a:buChar char="●"/>
            </a:pPr>
            <a:r>
              <a:rPr lang="en" sz="1500">
                <a:solidFill>
                  <a:srgbClr val="000000"/>
                </a:solidFill>
              </a:rPr>
              <a:t>Compared anomaly rankings against the full-peer reference model.</a:t>
            </a:r>
            <a:endParaRPr sz="1500">
              <a:solidFill>
                <a:srgbClr val="000000"/>
              </a:solidFill>
            </a:endParaRPr>
          </a:p>
          <a:p>
            <a:pPr indent="-323850" lvl="0" marL="457200" rtl="0" algn="l">
              <a:lnSpc>
                <a:spcPct val="95000"/>
              </a:lnSpc>
              <a:spcBef>
                <a:spcPts val="0"/>
              </a:spcBef>
              <a:spcAft>
                <a:spcPts val="0"/>
              </a:spcAft>
              <a:buClr>
                <a:srgbClr val="000000"/>
              </a:buClr>
              <a:buSzPts val="1500"/>
              <a:buChar char="●"/>
            </a:pPr>
            <a:r>
              <a:rPr lang="en" sz="1500">
                <a:solidFill>
                  <a:srgbClr val="000000"/>
                </a:solidFill>
              </a:rPr>
              <a:t>Larger peer groups improved ranking agreement and reduced variability across repeated samples.</a:t>
            </a:r>
            <a:endParaRPr sz="1500">
              <a:solidFill>
                <a:srgbClr val="000000"/>
              </a:solidFill>
            </a:endParaRPr>
          </a:p>
          <a:p>
            <a:pPr indent="-323850" lvl="0" marL="457200" rtl="0" algn="l">
              <a:lnSpc>
                <a:spcPct val="95000"/>
              </a:lnSpc>
              <a:spcBef>
                <a:spcPts val="0"/>
              </a:spcBef>
              <a:spcAft>
                <a:spcPts val="0"/>
              </a:spcAft>
              <a:buClr>
                <a:srgbClr val="000000"/>
              </a:buClr>
              <a:buSzPts val="1500"/>
              <a:buChar char="●"/>
            </a:pPr>
            <a:r>
              <a:rPr lang="en" sz="1500">
                <a:solidFill>
                  <a:srgbClr val="000000"/>
                </a:solidFill>
              </a:rPr>
              <a:t>Random seed tests showed minor improvements in ranking stability as group size increased.</a:t>
            </a:r>
            <a:endParaRPr sz="1500">
              <a:solidFill>
                <a:srgbClr val="000000"/>
              </a:solidFill>
            </a:endParaRPr>
          </a:p>
          <a:p>
            <a:pPr indent="0" lvl="0" marL="457200" rtl="0" algn="l">
              <a:lnSpc>
                <a:spcPct val="95000"/>
              </a:lnSpc>
              <a:spcBef>
                <a:spcPts val="1200"/>
              </a:spcBef>
              <a:spcAft>
                <a:spcPts val="0"/>
              </a:spcAft>
              <a:buSzPts val="688"/>
              <a:buNone/>
            </a:pPr>
            <a:r>
              <a:t/>
            </a:r>
            <a:endParaRPr sz="1375">
              <a:solidFill>
                <a:srgbClr val="000000"/>
              </a:solidFill>
            </a:endParaRPr>
          </a:p>
          <a:p>
            <a:pPr indent="0" lvl="0" marL="457200" rtl="0" algn="l">
              <a:lnSpc>
                <a:spcPct val="95000"/>
              </a:lnSpc>
              <a:spcBef>
                <a:spcPts val="1200"/>
              </a:spcBef>
              <a:spcAft>
                <a:spcPts val="0"/>
              </a:spcAft>
              <a:buSzPts val="688"/>
              <a:buNone/>
            </a:pPr>
            <a:r>
              <a:t/>
            </a:r>
            <a:endParaRPr sz="1375">
              <a:solidFill>
                <a:srgbClr val="000000"/>
              </a:solidFill>
            </a:endParaRPr>
          </a:p>
          <a:p>
            <a:pPr indent="0" lvl="0" marL="457200" rtl="0" algn="l">
              <a:lnSpc>
                <a:spcPct val="95000"/>
              </a:lnSpc>
              <a:spcBef>
                <a:spcPts val="1200"/>
              </a:spcBef>
              <a:spcAft>
                <a:spcPts val="1200"/>
              </a:spcAft>
              <a:buSzPts val="688"/>
              <a:buNone/>
            </a:pPr>
            <a:r>
              <a:t/>
            </a:r>
            <a:endParaRPr sz="813">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Where the Data Sits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Eli</a:t>
            </a:r>
            <a:endParaRPr/>
          </a:p>
        </p:txBody>
      </p:sp>
      <p:sp>
        <p:nvSpPr>
          <p:cNvPr id="116" name="Google Shape;116;p21"/>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Groups under 100 rows are 88.35% of Level 1 groups but hold only 5.44% of rows.</a:t>
            </a:r>
            <a:endParaRPr/>
          </a:p>
        </p:txBody>
      </p:sp>
      <p:pic>
        <p:nvPicPr>
          <p:cNvPr id="117" name="Google Shape;117;p21"/>
          <p:cNvPicPr preferRelativeResize="0"/>
          <p:nvPr/>
        </p:nvPicPr>
        <p:blipFill>
          <a:blip r:embed="rId3">
            <a:alphaModFix/>
          </a:blip>
          <a:stretch>
            <a:fillRect/>
          </a:stretch>
        </p:blipFill>
        <p:spPr>
          <a:xfrm>
            <a:off x="5357150" y="1928151"/>
            <a:ext cx="3706500" cy="2883862"/>
          </a:xfrm>
          <a:prstGeom prst="rect">
            <a:avLst/>
          </a:prstGeom>
          <a:noFill/>
          <a:ln>
            <a:noFill/>
          </a:ln>
        </p:spPr>
      </p:pic>
      <p:pic>
        <p:nvPicPr>
          <p:cNvPr id="118" name="Google Shape;118;p21"/>
          <p:cNvPicPr preferRelativeResize="0"/>
          <p:nvPr/>
        </p:nvPicPr>
        <p:blipFill rotWithShape="1">
          <a:blip r:embed="rId4">
            <a:alphaModFix/>
          </a:blip>
          <a:srcRect b="0" l="4080" r="8553" t="0"/>
          <a:stretch/>
        </p:blipFill>
        <p:spPr>
          <a:xfrm>
            <a:off x="48225" y="1928150"/>
            <a:ext cx="5647275" cy="2845925"/>
          </a:xfrm>
          <a:prstGeom prst="rect">
            <a:avLst/>
          </a:prstGeom>
          <a:noFill/>
          <a:ln cap="flat" cmpd="sng" w="9525">
            <a:solidFill>
              <a:srgbClr val="1E1F22"/>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Where the data is allocated based on group size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Eli</a:t>
            </a:r>
            <a:endParaRPr/>
          </a:p>
        </p:txBody>
      </p:sp>
      <p:pic>
        <p:nvPicPr>
          <p:cNvPr id="124" name="Google Shape;124;p22"/>
          <p:cNvPicPr preferRelativeResize="0"/>
          <p:nvPr/>
        </p:nvPicPr>
        <p:blipFill>
          <a:blip r:embed="rId3">
            <a:alphaModFix/>
          </a:blip>
          <a:stretch>
            <a:fillRect/>
          </a:stretch>
        </p:blipFill>
        <p:spPr>
          <a:xfrm>
            <a:off x="1549900" y="2168076"/>
            <a:ext cx="5841775" cy="271187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type="title"/>
          </p:nvPr>
        </p:nvSpPr>
        <p:spPr>
          <a:xfrm>
            <a:off x="0" y="0"/>
            <a:ext cx="9144000" cy="2476500"/>
          </a:xfrm>
          <a:prstGeom prst="rect">
            <a:avLst/>
          </a:prstGeom>
          <a:solidFill>
            <a:schemeClr val="dk1"/>
          </a:solidFill>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Feature Selection - Raw correlation | Erica</a:t>
            </a:r>
            <a:endParaRPr/>
          </a:p>
        </p:txBody>
      </p:sp>
      <p:pic>
        <p:nvPicPr>
          <p:cNvPr id="130" name="Google Shape;130;p23"/>
          <p:cNvPicPr preferRelativeResize="0"/>
          <p:nvPr/>
        </p:nvPicPr>
        <p:blipFill>
          <a:blip r:embed="rId3">
            <a:alphaModFix/>
          </a:blip>
          <a:stretch>
            <a:fillRect/>
          </a:stretch>
        </p:blipFill>
        <p:spPr>
          <a:xfrm>
            <a:off x="0" y="1201043"/>
            <a:ext cx="9144003" cy="3942458"/>
          </a:xfrm>
          <a:prstGeom prst="rect">
            <a:avLst/>
          </a:prstGeom>
          <a:noFill/>
          <a:ln>
            <a:noFill/>
          </a:ln>
        </p:spPr>
      </p:pic>
      <p:sp>
        <p:nvSpPr>
          <p:cNvPr id="131" name="Google Shape;131;p23"/>
          <p:cNvSpPr/>
          <p:nvPr/>
        </p:nvSpPr>
        <p:spPr>
          <a:xfrm>
            <a:off x="1461400" y="1416525"/>
            <a:ext cx="360000" cy="374400"/>
          </a:xfrm>
          <a:prstGeom prst="rect">
            <a:avLst/>
          </a:prstGeom>
          <a:noFill/>
          <a:ln cap="flat" cmpd="sng" w="1905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32" name="Google Shape;132;p23"/>
          <p:cNvSpPr/>
          <p:nvPr/>
        </p:nvSpPr>
        <p:spPr>
          <a:xfrm>
            <a:off x="6163900" y="1389825"/>
            <a:ext cx="360000" cy="374400"/>
          </a:xfrm>
          <a:prstGeom prst="rect">
            <a:avLst/>
          </a:prstGeom>
          <a:noFill/>
          <a:ln cap="flat" cmpd="sng" w="1905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Log Transformed</a:t>
            </a:r>
            <a:endParaRPr/>
          </a:p>
          <a:p>
            <a:pPr indent="0" lvl="0" marL="0" rtl="0" algn="l">
              <a:spcBef>
                <a:spcPts val="0"/>
              </a:spcBef>
              <a:spcAft>
                <a:spcPts val="0"/>
              </a:spcAft>
              <a:buNone/>
            </a:pPr>
            <a:r>
              <a:rPr lang="en"/>
              <a:t>correlation and Mean Abs Dev</a:t>
            </a:r>
            <a:endParaRPr/>
          </a:p>
        </p:txBody>
      </p:sp>
      <p:pic>
        <p:nvPicPr>
          <p:cNvPr id="138" name="Google Shape;138;p24"/>
          <p:cNvPicPr preferRelativeResize="0"/>
          <p:nvPr/>
        </p:nvPicPr>
        <p:blipFill>
          <a:blip r:embed="rId3">
            <a:alphaModFix/>
          </a:blip>
          <a:stretch>
            <a:fillRect/>
          </a:stretch>
        </p:blipFill>
        <p:spPr>
          <a:xfrm>
            <a:off x="3724450" y="152400"/>
            <a:ext cx="5267148" cy="4792875"/>
          </a:xfrm>
          <a:prstGeom prst="rect">
            <a:avLst/>
          </a:prstGeom>
          <a:noFill/>
          <a:ln>
            <a:noFill/>
          </a:ln>
        </p:spPr>
      </p:pic>
      <p:sp>
        <p:nvSpPr>
          <p:cNvPr id="139" name="Google Shape;139;p24"/>
          <p:cNvSpPr/>
          <p:nvPr/>
        </p:nvSpPr>
        <p:spPr>
          <a:xfrm>
            <a:off x="6916625" y="2640150"/>
            <a:ext cx="480900" cy="369600"/>
          </a:xfrm>
          <a:prstGeom prst="rect">
            <a:avLst/>
          </a:prstGeom>
          <a:noFill/>
          <a:ln cap="flat" cmpd="sng" w="1905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pic>
        <p:nvPicPr>
          <p:cNvPr id="140" name="Google Shape;140;p24"/>
          <p:cNvPicPr preferRelativeResize="0"/>
          <p:nvPr/>
        </p:nvPicPr>
        <p:blipFill rotWithShape="1">
          <a:blip r:embed="rId4">
            <a:alphaModFix/>
          </a:blip>
          <a:srcRect b="0" l="0" r="0" t="39657"/>
          <a:stretch/>
        </p:blipFill>
        <p:spPr>
          <a:xfrm>
            <a:off x="311725" y="2447100"/>
            <a:ext cx="3220525" cy="1513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Recommended features from testing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Erica</a:t>
            </a:r>
            <a:endParaRPr/>
          </a:p>
        </p:txBody>
      </p:sp>
      <p:pic>
        <p:nvPicPr>
          <p:cNvPr id="146" name="Google Shape;146;p25"/>
          <p:cNvPicPr preferRelativeResize="0"/>
          <p:nvPr/>
        </p:nvPicPr>
        <p:blipFill>
          <a:blip r:embed="rId3">
            <a:alphaModFix/>
          </a:blip>
          <a:stretch>
            <a:fillRect/>
          </a:stretch>
        </p:blipFill>
        <p:spPr>
          <a:xfrm>
            <a:off x="3775700" y="346650"/>
            <a:ext cx="5308801" cy="4709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6"/>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Feature </a:t>
            </a:r>
            <a:r>
              <a:rPr lang="en"/>
              <a:t>engineering</a:t>
            </a:r>
            <a:endParaRPr/>
          </a:p>
          <a:p>
            <a:pPr indent="0" lvl="0" marL="0" rtl="0" algn="l">
              <a:spcBef>
                <a:spcPts val="0"/>
              </a:spcBef>
              <a:spcAft>
                <a:spcPts val="0"/>
              </a:spcAft>
              <a:buNone/>
            </a:pPr>
            <a:r>
              <a:rPr i="1" lang="en" sz="1900"/>
              <a:t>Alisa</a:t>
            </a:r>
            <a:endParaRPr i="1" sz="1900"/>
          </a:p>
        </p:txBody>
      </p:sp>
      <p:graphicFrame>
        <p:nvGraphicFramePr>
          <p:cNvPr id="152" name="Google Shape;152;p26"/>
          <p:cNvGraphicFramePr/>
          <p:nvPr/>
        </p:nvGraphicFramePr>
        <p:xfrm>
          <a:off x="4396525" y="232450"/>
          <a:ext cx="3000000" cy="3000000"/>
        </p:xfrm>
        <a:graphic>
          <a:graphicData uri="http://schemas.openxmlformats.org/drawingml/2006/table">
            <a:tbl>
              <a:tblPr>
                <a:noFill/>
                <a:tableStyleId>{1B676157-E2D3-4444-884D-3D26FDBFB7DE}</a:tableStyleId>
              </a:tblPr>
              <a:tblGrid>
                <a:gridCol w="1331425"/>
                <a:gridCol w="3169000"/>
              </a:tblGrid>
              <a:tr h="326325">
                <a:tc>
                  <a:txBody>
                    <a:bodyPr/>
                    <a:lstStyle/>
                    <a:p>
                      <a:pPr indent="0" lvl="0" marL="0" rtl="0" algn="l">
                        <a:spcBef>
                          <a:spcPts val="0"/>
                        </a:spcBef>
                        <a:spcAft>
                          <a:spcPts val="0"/>
                        </a:spcAft>
                        <a:buNone/>
                      </a:pPr>
                      <a:r>
                        <a:rPr b="1" lang="en" sz="1300"/>
                        <a:t>Feature</a:t>
                      </a:r>
                      <a:endParaRPr b="1" sz="1300"/>
                    </a:p>
                  </a:txBody>
                  <a:tcPr marT="91425" marB="91425" marR="91425" marL="91425"/>
                </a:tc>
                <a:tc>
                  <a:txBody>
                    <a:bodyPr/>
                    <a:lstStyle/>
                    <a:p>
                      <a:pPr indent="0" lvl="0" marL="0" rtl="0" algn="l">
                        <a:spcBef>
                          <a:spcPts val="0"/>
                        </a:spcBef>
                        <a:spcAft>
                          <a:spcPts val="0"/>
                        </a:spcAft>
                        <a:buNone/>
                      </a:pPr>
                      <a:r>
                        <a:rPr b="1" lang="en" sz="1300"/>
                        <a:t>Meaning</a:t>
                      </a:r>
                      <a:endParaRPr b="1" sz="1300"/>
                    </a:p>
                  </a:txBody>
                  <a:tcPr marT="91425" marB="91425" marR="91425" marL="91425"/>
                </a:tc>
              </a:tr>
              <a:tr h="326325">
                <a:tc>
                  <a:txBody>
                    <a:bodyPr/>
                    <a:lstStyle/>
                    <a:p>
                      <a:pPr indent="0" lvl="0" marL="0" rtl="0" algn="l">
                        <a:spcBef>
                          <a:spcPts val="0"/>
                        </a:spcBef>
                        <a:spcAft>
                          <a:spcPts val="0"/>
                        </a:spcAft>
                        <a:buNone/>
                      </a:pPr>
                      <a:r>
                        <a:rPr lang="en" sz="1300"/>
                        <a:t>log_pay_rz</a:t>
                      </a:r>
                      <a:endParaRPr sz="1300"/>
                    </a:p>
                  </a:txBody>
                  <a:tcPr marT="91425" marB="91425" marR="91425" marL="91425"/>
                </a:tc>
                <a:tc>
                  <a:txBody>
                    <a:bodyPr/>
                    <a:lstStyle/>
                    <a:p>
                      <a:pPr indent="0" lvl="0" marL="0" rtl="0" algn="l">
                        <a:spcBef>
                          <a:spcPts val="0"/>
                        </a:spcBef>
                        <a:spcAft>
                          <a:spcPts val="0"/>
                        </a:spcAft>
                        <a:buNone/>
                      </a:pPr>
                      <a:r>
                        <a:rPr lang="en" sz="1300"/>
                        <a:t>Medicare payment for the service "Avg_Mdcr_Stdzd_Amt"</a:t>
                      </a:r>
                      <a:endParaRPr sz="1300"/>
                    </a:p>
                  </a:txBody>
                  <a:tcPr marT="91425" marB="91425" marR="91425" marL="91425"/>
                </a:tc>
              </a:tr>
              <a:tr h="326325">
                <a:tc>
                  <a:txBody>
                    <a:bodyPr/>
                    <a:lstStyle/>
                    <a:p>
                      <a:pPr indent="0" lvl="0" marL="0" rtl="0" algn="l">
                        <a:spcBef>
                          <a:spcPts val="0"/>
                        </a:spcBef>
                        <a:spcAft>
                          <a:spcPts val="0"/>
                        </a:spcAft>
                        <a:buNone/>
                      </a:pPr>
                      <a:r>
                        <a:rPr lang="en" sz="1300"/>
                        <a:t>log_benes_rz</a:t>
                      </a:r>
                      <a:endParaRPr sz="1300"/>
                    </a:p>
                  </a:txBody>
                  <a:tcPr marT="91425" marB="91425" marR="91425" marL="91425"/>
                </a:tc>
                <a:tc>
                  <a:txBody>
                    <a:bodyPr/>
                    <a:lstStyle/>
                    <a:p>
                      <a:pPr indent="0" lvl="0" marL="0" rtl="0" algn="l">
                        <a:spcBef>
                          <a:spcPts val="0"/>
                        </a:spcBef>
                        <a:spcAft>
                          <a:spcPts val="0"/>
                        </a:spcAft>
                        <a:buNone/>
                      </a:pPr>
                      <a:r>
                        <a:rPr lang="en" sz="1300"/>
                        <a:t>Volume (number of patients)</a:t>
                      </a:r>
                      <a:endParaRPr sz="1300"/>
                    </a:p>
                    <a:p>
                      <a:pPr indent="0" lvl="0" marL="0" rtl="0" algn="l">
                        <a:spcBef>
                          <a:spcPts val="0"/>
                        </a:spcBef>
                        <a:spcAft>
                          <a:spcPts val="0"/>
                        </a:spcAft>
                        <a:buNone/>
                      </a:pPr>
                      <a:r>
                        <a:rPr lang="en" sz="1300"/>
                        <a:t>"Tot_Benes"</a:t>
                      </a:r>
                      <a:endParaRPr sz="1300"/>
                    </a:p>
                  </a:txBody>
                  <a:tcPr marT="91425" marB="91425" marR="91425" marL="91425"/>
                </a:tc>
              </a:tr>
              <a:tr h="326325">
                <a:tc>
                  <a:txBody>
                    <a:bodyPr/>
                    <a:lstStyle/>
                    <a:p>
                      <a:pPr indent="0" lvl="0" marL="0" rtl="0" algn="l">
                        <a:spcBef>
                          <a:spcPts val="0"/>
                        </a:spcBef>
                        <a:spcAft>
                          <a:spcPts val="0"/>
                        </a:spcAft>
                        <a:buNone/>
                      </a:pPr>
                      <a:r>
                        <a:rPr lang="en" sz="1300"/>
                        <a:t>srvcs_per_bene_rz</a:t>
                      </a:r>
                      <a:endParaRPr sz="1300"/>
                    </a:p>
                  </a:txBody>
                  <a:tcPr marT="91425" marB="91425" marR="91425" marL="91425"/>
                </a:tc>
                <a:tc>
                  <a:txBody>
                    <a:bodyPr/>
                    <a:lstStyle/>
                    <a:p>
                      <a:pPr indent="0" lvl="0" marL="0" rtl="0" algn="l">
                        <a:spcBef>
                          <a:spcPts val="0"/>
                        </a:spcBef>
                        <a:spcAft>
                          <a:spcPts val="0"/>
                        </a:spcAft>
                        <a:buNone/>
                      </a:pPr>
                      <a:r>
                        <a:rPr lang="en" sz="1300"/>
                        <a:t>Services per patient</a:t>
                      </a:r>
                      <a:endParaRPr sz="1300"/>
                    </a:p>
                    <a:p>
                      <a:pPr indent="0" lvl="0" marL="0" rtl="0" algn="l">
                        <a:spcBef>
                          <a:spcPts val="0"/>
                        </a:spcBef>
                        <a:spcAft>
                          <a:spcPts val="0"/>
                        </a:spcAft>
                        <a:buNone/>
                      </a:pPr>
                      <a:r>
                        <a:rPr lang="en" sz="1300"/>
                        <a:t>"Tot_Srvcs"/ "Tot_Benes"</a:t>
                      </a:r>
                      <a:endParaRPr sz="1300"/>
                    </a:p>
                  </a:txBody>
                  <a:tcPr marT="91425" marB="91425" marR="91425" marL="91425"/>
                </a:tc>
              </a:tr>
              <a:tr h="326325">
                <a:tc>
                  <a:txBody>
                    <a:bodyPr/>
                    <a:lstStyle/>
                    <a:p>
                      <a:pPr indent="0" lvl="0" marL="0" rtl="0" algn="l">
                        <a:spcBef>
                          <a:spcPts val="0"/>
                        </a:spcBef>
                        <a:spcAft>
                          <a:spcPts val="0"/>
                        </a:spcAft>
                        <a:buNone/>
                      </a:pPr>
                      <a:r>
                        <a:rPr lang="en" sz="1300"/>
                        <a:t>markup_rz</a:t>
                      </a:r>
                      <a:endParaRPr sz="1300"/>
                    </a:p>
                  </a:txBody>
                  <a:tcPr marT="91425" marB="91425" marR="91425" marL="91425"/>
                </a:tc>
                <a:tc>
                  <a:txBody>
                    <a:bodyPr/>
                    <a:lstStyle/>
                    <a:p>
                      <a:pPr indent="0" lvl="0" marL="0" rtl="0" algn="l">
                        <a:spcBef>
                          <a:spcPts val="0"/>
                        </a:spcBef>
                        <a:spcAft>
                          <a:spcPts val="0"/>
                        </a:spcAft>
                        <a:buNone/>
                      </a:pPr>
                      <a:r>
                        <a:rPr lang="en" sz="1300"/>
                        <a:t>How much the provider bills compared to what Medicare considers the right price amount.</a:t>
                      </a:r>
                      <a:endParaRPr sz="1300"/>
                    </a:p>
                    <a:p>
                      <a:pPr indent="0" lvl="0" marL="0" rtl="0" algn="l">
                        <a:spcBef>
                          <a:spcPts val="0"/>
                        </a:spcBef>
                        <a:spcAft>
                          <a:spcPts val="0"/>
                        </a:spcAft>
                        <a:buNone/>
                      </a:pPr>
                      <a:r>
                        <a:rPr lang="en" sz="1300"/>
                        <a:t>"Avg_Sbmtd_Chrg" / "Avg_Mdcr_Alowd_Amt"</a:t>
                      </a:r>
                      <a:endParaRPr sz="1300"/>
                    </a:p>
                  </a:txBody>
                  <a:tcPr marT="91425" marB="91425" marR="91425" marL="91425"/>
                </a:tc>
              </a:tr>
            </a:tbl>
          </a:graphicData>
        </a:graphic>
      </p:graphicFrame>
      <p:sp>
        <p:nvSpPr>
          <p:cNvPr id="153" name="Google Shape;153;p26"/>
          <p:cNvSpPr txBox="1"/>
          <p:nvPr/>
        </p:nvSpPr>
        <p:spPr>
          <a:xfrm>
            <a:off x="4505175" y="3709750"/>
            <a:ext cx="4178700" cy="13914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SzPts val="1100"/>
              <a:buChar char="●"/>
            </a:pPr>
            <a:r>
              <a:rPr lang="en"/>
              <a:t>Volume and payment columns are highly correlated (k = 0.87-0.99), so one feature per group + ratios</a:t>
            </a:r>
            <a:endParaRPr/>
          </a:p>
          <a:p>
            <a:pPr indent="-298450" lvl="0" marL="457200" rtl="0" algn="l">
              <a:lnSpc>
                <a:spcPct val="115000"/>
              </a:lnSpc>
              <a:spcBef>
                <a:spcPts val="0"/>
              </a:spcBef>
              <a:spcAft>
                <a:spcPts val="0"/>
              </a:spcAft>
              <a:buSzPts val="1100"/>
              <a:buChar char="●"/>
            </a:pPr>
            <a:r>
              <a:rPr lang="en"/>
              <a:t>Log transform because all features are heavily right-skewed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Robust Z-Scores + Fallback</a:t>
            </a:r>
            <a:endParaRPr/>
          </a:p>
          <a:p>
            <a:pPr indent="0" lvl="0" marL="0" rtl="0" algn="l">
              <a:spcBef>
                <a:spcPts val="0"/>
              </a:spcBef>
              <a:spcAft>
                <a:spcPts val="0"/>
              </a:spcAft>
              <a:buNone/>
            </a:pPr>
            <a:r>
              <a:rPr i="1" lang="en" sz="2200"/>
              <a:t>Alisa</a:t>
            </a:r>
            <a:endParaRPr i="1" sz="2200"/>
          </a:p>
        </p:txBody>
      </p:sp>
      <p:sp>
        <p:nvSpPr>
          <p:cNvPr id="159" name="Google Shape;159;p27"/>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Char char="●"/>
            </a:pPr>
            <a:r>
              <a:rPr lang="en" sz="1500">
                <a:solidFill>
                  <a:srgbClr val="000000"/>
                </a:solidFill>
              </a:rPr>
              <a:t>rz = (x − median) / (1.4826 × MAD), computed inside each peer group</a:t>
            </a:r>
            <a:endParaRPr sz="1500">
              <a:solidFill>
                <a:srgbClr val="000000"/>
              </a:solidFill>
            </a:endParaRPr>
          </a:p>
          <a:p>
            <a:pPr indent="-323850" lvl="0" marL="457200" rtl="0" algn="l">
              <a:spcBef>
                <a:spcPts val="0"/>
              </a:spcBef>
              <a:spcAft>
                <a:spcPts val="0"/>
              </a:spcAft>
              <a:buClr>
                <a:srgbClr val="000000"/>
              </a:buClr>
              <a:buSzPts val="1500"/>
              <a:buChar char="●"/>
            </a:pPr>
            <a:r>
              <a:rPr lang="en" sz="1500">
                <a:solidFill>
                  <a:srgbClr val="000000"/>
                </a:solidFill>
              </a:rPr>
              <a:t>Median and MAD instead of mean and SD, so extreme values don’t hide outliers</a:t>
            </a:r>
            <a:endParaRPr sz="1500">
              <a:solidFill>
                <a:srgbClr val="000000"/>
              </a:solidFill>
            </a:endParaRPr>
          </a:p>
          <a:p>
            <a:pPr indent="-323850" lvl="0" marL="457200" rtl="0" algn="l">
              <a:spcBef>
                <a:spcPts val="0"/>
              </a:spcBef>
              <a:spcAft>
                <a:spcPts val="0"/>
              </a:spcAft>
              <a:buClr>
                <a:srgbClr val="000000"/>
              </a:buClr>
              <a:buSzPts val="1500"/>
              <a:buChar char="●"/>
            </a:pPr>
            <a:r>
              <a:rPr lang="en" sz="1500">
                <a:solidFill>
                  <a:srgbClr val="000000"/>
                </a:solidFill>
              </a:rPr>
              <a:t>Min group size 100, fallback: </a:t>
            </a:r>
            <a:endParaRPr sz="1500">
              <a:solidFill>
                <a:srgbClr val="000000"/>
              </a:solidFill>
            </a:endParaRPr>
          </a:p>
          <a:p>
            <a:pPr indent="-323850" lvl="1" marL="914400" rtl="0" algn="l">
              <a:spcBef>
                <a:spcPts val="0"/>
              </a:spcBef>
              <a:spcAft>
                <a:spcPts val="0"/>
              </a:spcAft>
              <a:buClr>
                <a:srgbClr val="000000"/>
              </a:buClr>
              <a:buSzPts val="1500"/>
              <a:buChar char="○"/>
            </a:pPr>
            <a:r>
              <a:rPr lang="en" sz="1500">
                <a:solidFill>
                  <a:srgbClr val="000000"/>
                </a:solidFill>
              </a:rPr>
              <a:t>Level 1: Type × HCPCS × POS </a:t>
            </a:r>
            <a:endParaRPr sz="1500">
              <a:solidFill>
                <a:srgbClr val="000000"/>
              </a:solidFill>
            </a:endParaRPr>
          </a:p>
          <a:p>
            <a:pPr indent="-323850" lvl="1" marL="914400" rtl="0" algn="l">
              <a:spcBef>
                <a:spcPts val="0"/>
              </a:spcBef>
              <a:spcAft>
                <a:spcPts val="0"/>
              </a:spcAft>
              <a:buClr>
                <a:srgbClr val="000000"/>
              </a:buClr>
              <a:buSzPts val="1500"/>
              <a:buChar char="○"/>
            </a:pPr>
            <a:r>
              <a:rPr lang="en" sz="1500">
                <a:solidFill>
                  <a:srgbClr val="000000"/>
                </a:solidFill>
              </a:rPr>
              <a:t>Level 2: HCPCS × POS </a:t>
            </a:r>
            <a:endParaRPr sz="1500">
              <a:solidFill>
                <a:srgbClr val="000000"/>
              </a:solidFill>
            </a:endParaRPr>
          </a:p>
          <a:p>
            <a:pPr indent="-323850" lvl="1" marL="914400" rtl="0" algn="l">
              <a:spcBef>
                <a:spcPts val="0"/>
              </a:spcBef>
              <a:spcAft>
                <a:spcPts val="0"/>
              </a:spcAft>
              <a:buClr>
                <a:srgbClr val="000000"/>
              </a:buClr>
              <a:buSzPts val="1500"/>
              <a:buChar char="○"/>
            </a:pPr>
            <a:r>
              <a:rPr lang="en" sz="1500">
                <a:solidFill>
                  <a:srgbClr val="000000"/>
                </a:solidFill>
              </a:rPr>
              <a:t>Level 3: HCPCS</a:t>
            </a:r>
            <a:endParaRPr sz="1500">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8"/>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Baseline Model</a:t>
            </a:r>
            <a:endParaRPr/>
          </a:p>
          <a:p>
            <a:pPr indent="0" lvl="0" marL="0" rtl="0" algn="l">
              <a:spcBef>
                <a:spcPts val="0"/>
              </a:spcBef>
              <a:spcAft>
                <a:spcPts val="0"/>
              </a:spcAft>
              <a:buNone/>
            </a:pPr>
            <a:r>
              <a:rPr i="1" lang="en" sz="1900"/>
              <a:t>Alisa</a:t>
            </a:r>
            <a:endParaRPr i="1" sz="1900"/>
          </a:p>
        </p:txBody>
      </p:sp>
      <p:sp>
        <p:nvSpPr>
          <p:cNvPr id="165" name="Google Shape;165;p28"/>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Char char="●"/>
            </a:pPr>
            <a:r>
              <a:rPr lang="en" sz="1500">
                <a:solidFill>
                  <a:srgbClr val="000000"/>
                </a:solidFill>
              </a:rPr>
              <a:t>Flags unusually high billing vs peer group</a:t>
            </a:r>
            <a:endParaRPr sz="1500">
              <a:solidFill>
                <a:srgbClr val="000000"/>
              </a:solidFill>
            </a:endParaRPr>
          </a:p>
          <a:p>
            <a:pPr indent="-323850" lvl="0" marL="457200" rtl="0" algn="l">
              <a:spcBef>
                <a:spcPts val="0"/>
              </a:spcBef>
              <a:spcAft>
                <a:spcPts val="0"/>
              </a:spcAft>
              <a:buClr>
                <a:srgbClr val="000000"/>
              </a:buClr>
              <a:buSzPts val="1500"/>
              <a:buChar char="●"/>
            </a:pPr>
            <a:r>
              <a:rPr lang="en" sz="1500">
                <a:solidFill>
                  <a:srgbClr val="000000"/>
                </a:solidFill>
              </a:rPr>
              <a:t>Flag if 1 feature &gt; 10 or 2+ features &gt; 3.5 robust SD</a:t>
            </a:r>
            <a:endParaRPr sz="1500">
              <a:solidFill>
                <a:srgbClr val="000000"/>
              </a:solidFill>
            </a:endParaRPr>
          </a:p>
          <a:p>
            <a:pPr indent="-323850" lvl="0" marL="457200" rtl="0" algn="l">
              <a:spcBef>
                <a:spcPts val="0"/>
              </a:spcBef>
              <a:spcAft>
                <a:spcPts val="0"/>
              </a:spcAft>
              <a:buClr>
                <a:srgbClr val="000000"/>
              </a:buClr>
              <a:buSzPts val="1500"/>
              <a:buChar char="●"/>
            </a:pPr>
            <a:r>
              <a:rPr lang="en" sz="1500">
                <a:solidFill>
                  <a:srgbClr val="000000"/>
                </a:solidFill>
              </a:rPr>
              <a:t>1.16% of rows flagged (114,765)</a:t>
            </a:r>
            <a:endParaRPr sz="1500">
              <a:solidFill>
                <a:srgbClr val="000000"/>
              </a:solidFill>
            </a:endParaRPr>
          </a:p>
          <a:p>
            <a:pPr indent="-323850" lvl="0" marL="457200" rtl="0" algn="l">
              <a:spcBef>
                <a:spcPts val="0"/>
              </a:spcBef>
              <a:spcAft>
                <a:spcPts val="0"/>
              </a:spcAft>
              <a:buClr>
                <a:srgbClr val="000000"/>
              </a:buClr>
              <a:buSzPts val="1500"/>
              <a:buChar char="●"/>
            </a:pPr>
            <a:r>
              <a:rPr lang="en" sz="1500">
                <a:solidFill>
                  <a:srgbClr val="000000"/>
                </a:solidFill>
              </a:rPr>
              <a:t>Risk tiers among flagged rows: </a:t>
            </a:r>
            <a:endParaRPr sz="1500">
              <a:solidFill>
                <a:srgbClr val="000000"/>
              </a:solidFill>
            </a:endParaRPr>
          </a:p>
          <a:p>
            <a:pPr indent="-323850" lvl="1" marL="914400" rtl="0" algn="l">
              <a:spcBef>
                <a:spcPts val="0"/>
              </a:spcBef>
              <a:spcAft>
                <a:spcPts val="0"/>
              </a:spcAft>
              <a:buClr>
                <a:srgbClr val="000000"/>
              </a:buClr>
              <a:buSzPts val="1500"/>
              <a:buChar char="○"/>
            </a:pPr>
            <a:r>
              <a:rPr lang="en" sz="1500">
                <a:solidFill>
                  <a:srgbClr val="000000"/>
                </a:solidFill>
              </a:rPr>
              <a:t>High 15% / Medium 35% / Low 50%</a:t>
            </a:r>
            <a:endParaRPr sz="1500">
              <a:solidFill>
                <a:srgbClr val="000000"/>
              </a:solidFill>
            </a:endParaRPr>
          </a:p>
          <a:p>
            <a:pPr indent="0" lvl="0" marL="0" rtl="0" algn="l">
              <a:spcBef>
                <a:spcPts val="1200"/>
              </a:spcBef>
              <a:spcAft>
                <a:spcPts val="1200"/>
              </a:spcAft>
              <a:buNone/>
            </a:pPr>
            <a:r>
              <a:rPr b="1" lang="en" sz="1500">
                <a:solidFill>
                  <a:srgbClr val="000000"/>
                </a:solidFill>
              </a:rPr>
              <a:t>What drives the flags(% of the flags):</a:t>
            </a:r>
            <a:endParaRPr b="1" sz="1500">
              <a:solidFill>
                <a:srgbClr val="000000"/>
              </a:solidFill>
            </a:endParaRPr>
          </a:p>
        </p:txBody>
      </p:sp>
      <p:pic>
        <p:nvPicPr>
          <p:cNvPr id="166" name="Google Shape;166;p28"/>
          <p:cNvPicPr preferRelativeResize="0"/>
          <p:nvPr/>
        </p:nvPicPr>
        <p:blipFill>
          <a:blip r:embed="rId3">
            <a:alphaModFix/>
          </a:blip>
          <a:stretch>
            <a:fillRect/>
          </a:stretch>
        </p:blipFill>
        <p:spPr>
          <a:xfrm>
            <a:off x="4839725" y="2777900"/>
            <a:ext cx="2866625" cy="17696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9"/>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Baseline Output: Example</a:t>
            </a:r>
            <a:endParaRPr/>
          </a:p>
          <a:p>
            <a:pPr indent="0" lvl="0" marL="0" rtl="0" algn="l">
              <a:spcBef>
                <a:spcPts val="0"/>
              </a:spcBef>
              <a:spcAft>
                <a:spcPts val="0"/>
              </a:spcAft>
              <a:buNone/>
            </a:pPr>
            <a:r>
              <a:rPr i="1" lang="en" sz="1600"/>
              <a:t>Alisa</a:t>
            </a:r>
            <a:endParaRPr i="1" sz="1600"/>
          </a:p>
          <a:p>
            <a:pPr indent="0" lvl="0" marL="0" rtl="0" algn="l">
              <a:spcBef>
                <a:spcPts val="0"/>
              </a:spcBef>
              <a:spcAft>
                <a:spcPts val="0"/>
              </a:spcAft>
              <a:buNone/>
            </a:pPr>
            <a:r>
              <a:t/>
            </a:r>
            <a:endParaRPr/>
          </a:p>
        </p:txBody>
      </p:sp>
      <p:sp>
        <p:nvSpPr>
          <p:cNvPr id="172" name="Google Shape;172;p29"/>
          <p:cNvSpPr txBox="1"/>
          <p:nvPr>
            <p:ph idx="1" type="body"/>
          </p:nvPr>
        </p:nvSpPr>
        <p:spPr>
          <a:xfrm>
            <a:off x="4447775" y="500925"/>
            <a:ext cx="4645500" cy="9696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b="1" lang="en" sz="1700">
                <a:solidFill>
                  <a:srgbClr val="000000"/>
                </a:solidFill>
              </a:rPr>
              <a:t>Nurse Practitioner x 99213 (office visit) x Office </a:t>
            </a:r>
            <a:endParaRPr b="1" sz="1700">
              <a:solidFill>
                <a:srgbClr val="000000"/>
              </a:solidFill>
            </a:endParaRPr>
          </a:p>
          <a:p>
            <a:pPr indent="0" lvl="0" marL="0" rtl="0" algn="l">
              <a:spcBef>
                <a:spcPts val="1200"/>
              </a:spcBef>
              <a:spcAft>
                <a:spcPts val="1200"/>
              </a:spcAft>
              <a:buNone/>
            </a:pPr>
            <a:r>
              <a:rPr b="1" lang="en" sz="1700">
                <a:solidFill>
                  <a:srgbClr val="000000"/>
                </a:solidFill>
              </a:rPr>
              <a:t>Total of: 82,322 rows</a:t>
            </a:r>
            <a:endParaRPr b="1" sz="1700">
              <a:solidFill>
                <a:srgbClr val="000000"/>
              </a:solidFill>
            </a:endParaRPr>
          </a:p>
        </p:txBody>
      </p:sp>
      <p:pic>
        <p:nvPicPr>
          <p:cNvPr id="173" name="Google Shape;173;p29"/>
          <p:cNvPicPr preferRelativeResize="0"/>
          <p:nvPr/>
        </p:nvPicPr>
        <p:blipFill>
          <a:blip r:embed="rId3">
            <a:alphaModFix/>
          </a:blip>
          <a:stretch>
            <a:fillRect/>
          </a:stretch>
        </p:blipFill>
        <p:spPr>
          <a:xfrm>
            <a:off x="699238" y="1773252"/>
            <a:ext cx="7745524" cy="1934675"/>
          </a:xfrm>
          <a:prstGeom prst="rect">
            <a:avLst/>
          </a:prstGeom>
          <a:noFill/>
          <a:ln>
            <a:noFill/>
          </a:ln>
        </p:spPr>
      </p:pic>
      <p:sp>
        <p:nvSpPr>
          <p:cNvPr id="174" name="Google Shape;174;p29"/>
          <p:cNvSpPr txBox="1"/>
          <p:nvPr/>
        </p:nvSpPr>
        <p:spPr>
          <a:xfrm>
            <a:off x="4403225" y="3901900"/>
            <a:ext cx="42639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Roboto"/>
                <a:ea typeface="Roboto"/>
                <a:cs typeface="Roboto"/>
                <a:sym typeface="Roboto"/>
              </a:rPr>
              <a:t>Four of the top five flags bill 16–43 visits per patient vs a peer median of 1.15. The fifth is flagged on two features: more visits (3.1) and a 17x markup vs 2.4.</a:t>
            </a:r>
            <a:endParaRPr sz="1500">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0"/>
          <p:cNvSpPr txBox="1"/>
          <p:nvPr>
            <p:ph type="title"/>
          </p:nvPr>
        </p:nvSpPr>
        <p:spPr>
          <a:xfrm>
            <a:off x="253925" y="228350"/>
            <a:ext cx="40569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Baseline and percentile exploration </a:t>
            </a:r>
            <a:r>
              <a:rPr i="1" lang="en" sz="1900"/>
              <a:t>supporting team findings</a:t>
            </a:r>
            <a:endParaRPr i="1" sz="1900"/>
          </a:p>
          <a:p>
            <a:pPr indent="0" lvl="0" marL="0" rtl="0" algn="l">
              <a:spcBef>
                <a:spcPts val="0"/>
              </a:spcBef>
              <a:spcAft>
                <a:spcPts val="0"/>
              </a:spcAft>
              <a:buNone/>
            </a:pPr>
            <a:r>
              <a:rPr i="1" lang="en" sz="1900"/>
              <a:t>Erica</a:t>
            </a:r>
            <a:endParaRPr i="1"/>
          </a:p>
        </p:txBody>
      </p:sp>
      <p:pic>
        <p:nvPicPr>
          <p:cNvPr id="180" name="Google Shape;180;p30"/>
          <p:cNvPicPr preferRelativeResize="0"/>
          <p:nvPr/>
        </p:nvPicPr>
        <p:blipFill>
          <a:blip r:embed="rId3">
            <a:alphaModFix/>
          </a:blip>
          <a:stretch>
            <a:fillRect/>
          </a:stretch>
        </p:blipFill>
        <p:spPr>
          <a:xfrm>
            <a:off x="152400" y="1812975"/>
            <a:ext cx="8916375" cy="31781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1"/>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Modeling DBSCAN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Tyson</a:t>
            </a:r>
            <a:endParaRPr/>
          </a:p>
        </p:txBody>
      </p:sp>
      <p:sp>
        <p:nvSpPr>
          <p:cNvPr id="186" name="Google Shape;186;p31"/>
          <p:cNvSpPr txBox="1"/>
          <p:nvPr>
            <p:ph idx="1" type="body"/>
          </p:nvPr>
        </p:nvSpPr>
        <p:spPr>
          <a:xfrm>
            <a:off x="4416050" y="214500"/>
            <a:ext cx="4592400" cy="49290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lang="en" sz="1600"/>
              <a:t>How DBSCAN works:</a:t>
            </a:r>
            <a:endParaRPr sz="1600"/>
          </a:p>
          <a:p>
            <a:pPr indent="-330200" lvl="0" marL="457200" rtl="0" algn="l">
              <a:lnSpc>
                <a:spcPct val="200000"/>
              </a:lnSpc>
              <a:spcBef>
                <a:spcPts val="1200"/>
              </a:spcBef>
              <a:spcAft>
                <a:spcPts val="0"/>
              </a:spcAft>
              <a:buSzPts val="1600"/>
              <a:buChar char="●"/>
            </a:pPr>
            <a:r>
              <a:rPr lang="en" sz="1600"/>
              <a:t>Takes in groups (in this case peer groups)</a:t>
            </a:r>
            <a:endParaRPr sz="1600"/>
          </a:p>
          <a:p>
            <a:pPr indent="-330200" lvl="0" marL="457200" rtl="0" algn="l">
              <a:lnSpc>
                <a:spcPct val="200000"/>
              </a:lnSpc>
              <a:spcBef>
                <a:spcPts val="0"/>
              </a:spcBef>
              <a:spcAft>
                <a:spcPts val="0"/>
              </a:spcAft>
              <a:buSzPts val="1600"/>
              <a:buChar char="●"/>
            </a:pPr>
            <a:r>
              <a:rPr lang="en" sz="1600"/>
              <a:t>Takes in a list of numerical features</a:t>
            </a:r>
            <a:endParaRPr sz="1600"/>
          </a:p>
          <a:p>
            <a:pPr indent="-330200" lvl="0" marL="457200" rtl="0" algn="l">
              <a:lnSpc>
                <a:spcPct val="200000"/>
              </a:lnSpc>
              <a:spcBef>
                <a:spcPts val="0"/>
              </a:spcBef>
              <a:spcAft>
                <a:spcPts val="0"/>
              </a:spcAft>
              <a:buSzPts val="1600"/>
              <a:buChar char="●"/>
            </a:pPr>
            <a:r>
              <a:rPr lang="en" sz="1600"/>
              <a:t>Uses Vectors and Matrices to calculate </a:t>
            </a:r>
            <a:r>
              <a:rPr lang="en" sz="1600"/>
              <a:t>Euclidean</a:t>
            </a:r>
            <a:r>
              <a:rPr lang="en" sz="1600"/>
              <a:t> distance between each record and the next closest record.</a:t>
            </a:r>
            <a:endParaRPr sz="1600"/>
          </a:p>
          <a:p>
            <a:pPr indent="-330200" lvl="0" marL="457200" rtl="0" algn="l">
              <a:lnSpc>
                <a:spcPct val="200000"/>
              </a:lnSpc>
              <a:spcBef>
                <a:spcPts val="0"/>
              </a:spcBef>
              <a:spcAft>
                <a:spcPts val="0"/>
              </a:spcAft>
              <a:buSzPts val="1600"/>
              <a:buChar char="●"/>
            </a:pPr>
            <a:r>
              <a:rPr lang="en" sz="1600"/>
              <a:t>Outputs a distance feature to each record allowing for easy sorting and analysis.</a:t>
            </a:r>
            <a:endParaRPr sz="16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2"/>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Modeling DBSCAN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Tyson</a:t>
            </a:r>
            <a:endParaRPr/>
          </a:p>
        </p:txBody>
      </p:sp>
      <p:sp>
        <p:nvSpPr>
          <p:cNvPr id="192" name="Google Shape;192;p32"/>
          <p:cNvSpPr txBox="1"/>
          <p:nvPr>
            <p:ph idx="1" type="body"/>
          </p:nvPr>
        </p:nvSpPr>
        <p:spPr>
          <a:xfrm>
            <a:off x="4644675" y="214500"/>
            <a:ext cx="4166400" cy="49290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600"/>
              <a:t>Used DBSCAN for unsupervised clustering:</a:t>
            </a:r>
            <a:endParaRPr sz="1600"/>
          </a:p>
          <a:p>
            <a:pPr indent="-330200" lvl="0" marL="457200" rtl="0" algn="l">
              <a:lnSpc>
                <a:spcPct val="150000"/>
              </a:lnSpc>
              <a:spcBef>
                <a:spcPts val="1200"/>
              </a:spcBef>
              <a:spcAft>
                <a:spcPts val="0"/>
              </a:spcAft>
              <a:buSzPts val="1600"/>
              <a:buChar char="●"/>
            </a:pPr>
            <a:r>
              <a:rPr lang="en" sz="1600"/>
              <a:t>Grouped data by HCPCS code, Place of Service, Provider Type, and Provider Entity.</a:t>
            </a:r>
            <a:endParaRPr sz="1600"/>
          </a:p>
          <a:p>
            <a:pPr indent="-330200" lvl="0" marL="457200" rtl="0" algn="l">
              <a:lnSpc>
                <a:spcPct val="150000"/>
              </a:lnSpc>
              <a:spcBef>
                <a:spcPts val="0"/>
              </a:spcBef>
              <a:spcAft>
                <a:spcPts val="0"/>
              </a:spcAft>
              <a:buSzPts val="1600"/>
              <a:buChar char="●"/>
            </a:pPr>
            <a:r>
              <a:rPr lang="en" sz="1600"/>
              <a:t>Clustered data by Total Beneficiaries, Total Services, </a:t>
            </a:r>
            <a:r>
              <a:rPr lang="en" sz="1600"/>
              <a:t>Distinct</a:t>
            </a:r>
            <a:r>
              <a:rPr lang="en" sz="1600"/>
              <a:t> Services per Beneficiaries, Average Submitted Charge, Average Allowed Amount, and Average Standardized Amount.</a:t>
            </a:r>
            <a:endParaRPr sz="1600"/>
          </a:p>
          <a:p>
            <a:pPr indent="-330200" lvl="0" marL="457200" rtl="0" algn="l">
              <a:lnSpc>
                <a:spcPct val="150000"/>
              </a:lnSpc>
              <a:spcBef>
                <a:spcPts val="0"/>
              </a:spcBef>
              <a:spcAft>
                <a:spcPts val="0"/>
              </a:spcAft>
              <a:buSzPts val="1600"/>
              <a:buChar char="●"/>
            </a:pPr>
            <a:r>
              <a:rPr lang="en" sz="1600"/>
              <a:t>DBSCAN has contributed to the conclusion that about 90% of the data has a </a:t>
            </a:r>
            <a:r>
              <a:rPr lang="en" sz="1600"/>
              <a:t>euclidean</a:t>
            </a:r>
            <a:r>
              <a:rPr lang="en" sz="1600"/>
              <a:t> distance of 0.5 or less. </a:t>
            </a:r>
            <a:endParaRPr sz="16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3"/>
          <p:cNvSpPr txBox="1"/>
          <p:nvPr>
            <p:ph type="title"/>
          </p:nvPr>
        </p:nvSpPr>
        <p:spPr>
          <a:xfrm>
            <a:off x="0" y="0"/>
            <a:ext cx="3731700" cy="133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Demo DBSCAN </a:t>
            </a:r>
            <a:endParaRPr/>
          </a:p>
        </p:txBody>
      </p:sp>
      <p:pic>
        <p:nvPicPr>
          <p:cNvPr id="198" name="Google Shape;198;p33" title="DBSCAN_results_light.png"/>
          <p:cNvPicPr preferRelativeResize="0"/>
          <p:nvPr/>
        </p:nvPicPr>
        <p:blipFill>
          <a:blip r:embed="rId3">
            <a:alphaModFix/>
          </a:blip>
          <a:stretch>
            <a:fillRect/>
          </a:stretch>
        </p:blipFill>
        <p:spPr>
          <a:xfrm>
            <a:off x="72038" y="639450"/>
            <a:ext cx="8999924" cy="42512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4"/>
          <p:cNvSpPr txBox="1"/>
          <p:nvPr>
            <p:ph type="title"/>
          </p:nvPr>
        </p:nvSpPr>
        <p:spPr>
          <a:xfrm>
            <a:off x="0" y="0"/>
            <a:ext cx="3731700" cy="133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Demo D</a:t>
            </a:r>
            <a:r>
              <a:rPr lang="en"/>
              <a:t>BSCAN </a:t>
            </a:r>
            <a:endParaRPr/>
          </a:p>
        </p:txBody>
      </p:sp>
      <p:pic>
        <p:nvPicPr>
          <p:cNvPr id="204" name="Google Shape;204;p34"/>
          <p:cNvPicPr preferRelativeResize="0"/>
          <p:nvPr/>
        </p:nvPicPr>
        <p:blipFill rotWithShape="1">
          <a:blip r:embed="rId3">
            <a:alphaModFix/>
          </a:blip>
          <a:srcRect b="32139" l="0" r="0" t="0"/>
          <a:stretch/>
        </p:blipFill>
        <p:spPr>
          <a:xfrm>
            <a:off x="738063" y="513825"/>
            <a:ext cx="7445475" cy="4414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5"/>
          <p:cNvSpPr txBox="1"/>
          <p:nvPr>
            <p:ph type="title"/>
          </p:nvPr>
        </p:nvSpPr>
        <p:spPr>
          <a:xfrm>
            <a:off x="311725" y="240200"/>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Modeling Isolation Forest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Diana</a:t>
            </a:r>
            <a:endParaRPr/>
          </a:p>
        </p:txBody>
      </p:sp>
      <p:sp>
        <p:nvSpPr>
          <p:cNvPr id="210" name="Google Shape;210;p35"/>
          <p:cNvSpPr txBox="1"/>
          <p:nvPr>
            <p:ph idx="1" type="body"/>
          </p:nvPr>
        </p:nvSpPr>
        <p:spPr>
          <a:xfrm>
            <a:off x="4421200" y="240200"/>
            <a:ext cx="4598700" cy="40986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Char char="●"/>
            </a:pPr>
            <a:r>
              <a:rPr lang="en" sz="1500">
                <a:solidFill>
                  <a:srgbClr val="000000"/>
                </a:solidFill>
              </a:rPr>
              <a:t>Unsupervised anomaly-detection algorithm</a:t>
            </a:r>
            <a:endParaRPr sz="1500">
              <a:solidFill>
                <a:srgbClr val="000000"/>
              </a:solidFill>
            </a:endParaRPr>
          </a:p>
          <a:p>
            <a:pPr indent="-323850" lvl="0" marL="457200" rtl="0" algn="l">
              <a:spcBef>
                <a:spcPts val="0"/>
              </a:spcBef>
              <a:spcAft>
                <a:spcPts val="0"/>
              </a:spcAft>
              <a:buClr>
                <a:srgbClr val="000000"/>
              </a:buClr>
              <a:buSzPts val="1500"/>
              <a:buChar char="●"/>
            </a:pPr>
            <a:r>
              <a:rPr lang="en" sz="1500">
                <a:solidFill>
                  <a:srgbClr val="000000"/>
                </a:solidFill>
              </a:rPr>
              <a:t>Appropriate</a:t>
            </a:r>
            <a:r>
              <a:rPr lang="en" sz="1500">
                <a:solidFill>
                  <a:srgbClr val="000000"/>
                </a:solidFill>
              </a:rPr>
              <a:t> </a:t>
            </a:r>
            <a:r>
              <a:rPr lang="en" sz="1500">
                <a:solidFill>
                  <a:srgbClr val="000000"/>
                </a:solidFill>
              </a:rPr>
              <a:t>because</a:t>
            </a:r>
            <a:r>
              <a:rPr lang="en" sz="1500">
                <a:solidFill>
                  <a:srgbClr val="000000"/>
                </a:solidFill>
              </a:rPr>
              <a:t> the dataset does not contain confirmed fraud labels</a:t>
            </a:r>
            <a:endParaRPr sz="1500">
              <a:solidFill>
                <a:srgbClr val="000000"/>
              </a:solidFill>
            </a:endParaRPr>
          </a:p>
          <a:p>
            <a:pPr indent="-323850" lvl="0" marL="457200" rtl="0" algn="l">
              <a:spcBef>
                <a:spcPts val="0"/>
              </a:spcBef>
              <a:spcAft>
                <a:spcPts val="0"/>
              </a:spcAft>
              <a:buClr>
                <a:srgbClr val="000000"/>
              </a:buClr>
              <a:buSzPts val="1500"/>
              <a:buChar char="●"/>
            </a:pPr>
            <a:r>
              <a:rPr lang="en" sz="1500">
                <a:solidFill>
                  <a:srgbClr val="000000"/>
                </a:solidFill>
              </a:rPr>
              <a:t>Trained separately within peer groups</a:t>
            </a:r>
            <a:endParaRPr sz="1500">
              <a:solidFill>
                <a:srgbClr val="000000"/>
              </a:solidFill>
            </a:endParaRPr>
          </a:p>
          <a:p>
            <a:pPr indent="-323850" lvl="0" marL="457200" rtl="0" algn="l">
              <a:spcBef>
                <a:spcPts val="0"/>
              </a:spcBef>
              <a:spcAft>
                <a:spcPts val="0"/>
              </a:spcAft>
              <a:buClr>
                <a:srgbClr val="000000"/>
              </a:buClr>
              <a:buSzPts val="1500"/>
              <a:buChar char="●"/>
            </a:pPr>
            <a:r>
              <a:rPr lang="en" sz="1500">
                <a:solidFill>
                  <a:srgbClr val="000000"/>
                </a:solidFill>
              </a:rPr>
              <a:t>High anomaly scores indicate </a:t>
            </a:r>
            <a:r>
              <a:rPr lang="en" sz="1500">
                <a:solidFill>
                  <a:srgbClr val="000000"/>
                </a:solidFill>
              </a:rPr>
              <a:t>behavior</a:t>
            </a:r>
            <a:r>
              <a:rPr lang="en" sz="1500">
                <a:solidFill>
                  <a:srgbClr val="000000"/>
                </a:solidFill>
              </a:rPr>
              <a:t> that is more unusual </a:t>
            </a:r>
            <a:r>
              <a:rPr lang="en" sz="1500">
                <a:solidFill>
                  <a:srgbClr val="000000"/>
                </a:solidFill>
              </a:rPr>
              <a:t>relative</a:t>
            </a:r>
            <a:r>
              <a:rPr lang="en" sz="1500">
                <a:solidFill>
                  <a:srgbClr val="000000"/>
                </a:solidFill>
              </a:rPr>
              <a:t> to that provider’s peer group</a:t>
            </a:r>
            <a:endParaRPr sz="1500">
              <a:solidFill>
                <a:srgbClr val="000000"/>
              </a:solidFill>
            </a:endParaRPr>
          </a:p>
        </p:txBody>
      </p:sp>
      <p:graphicFrame>
        <p:nvGraphicFramePr>
          <p:cNvPr id="211" name="Google Shape;211;p35"/>
          <p:cNvGraphicFramePr/>
          <p:nvPr/>
        </p:nvGraphicFramePr>
        <p:xfrm>
          <a:off x="4521900" y="2938125"/>
          <a:ext cx="3000000" cy="3000000"/>
        </p:xfrm>
        <a:graphic>
          <a:graphicData uri="http://schemas.openxmlformats.org/drawingml/2006/table">
            <a:tbl>
              <a:tblPr>
                <a:noFill/>
                <a:tableStyleId>{1B676157-E2D3-4444-884D-3D26FDBFB7DE}</a:tableStyleId>
              </a:tblPr>
              <a:tblGrid>
                <a:gridCol w="1077650"/>
                <a:gridCol w="1077650"/>
                <a:gridCol w="1077650"/>
                <a:gridCol w="1077650"/>
              </a:tblGrid>
              <a:tr h="621950">
                <a:tc>
                  <a:txBody>
                    <a:bodyPr/>
                    <a:lstStyle/>
                    <a:p>
                      <a:pPr indent="0" lvl="0" marL="0" rtl="0" algn="l">
                        <a:spcBef>
                          <a:spcPts val="0"/>
                        </a:spcBef>
                        <a:spcAft>
                          <a:spcPts val="0"/>
                        </a:spcAft>
                        <a:buNone/>
                      </a:pPr>
                      <a:r>
                        <a:rPr b="1" i="1" lang="en"/>
                        <a:t>Type</a:t>
                      </a:r>
                      <a:endParaRPr b="1" i="1"/>
                    </a:p>
                  </a:txBody>
                  <a:tcPr marT="91425" marB="91425" marR="91425" marL="91425">
                    <a:solidFill>
                      <a:srgbClr val="4A86E8"/>
                    </a:solidFill>
                  </a:tcPr>
                </a:tc>
                <a:tc>
                  <a:txBody>
                    <a:bodyPr/>
                    <a:lstStyle/>
                    <a:p>
                      <a:pPr indent="0" lvl="0" marL="0" rtl="0" algn="l">
                        <a:spcBef>
                          <a:spcPts val="0"/>
                        </a:spcBef>
                        <a:spcAft>
                          <a:spcPts val="0"/>
                        </a:spcAft>
                        <a:buNone/>
                      </a:pPr>
                      <a:r>
                        <a:rPr b="1" i="1" lang="en"/>
                        <a:t>Services/Benef.</a:t>
                      </a:r>
                      <a:endParaRPr b="1" i="1"/>
                    </a:p>
                  </a:txBody>
                  <a:tcPr marT="91425" marB="91425" marR="91425" marL="91425">
                    <a:solidFill>
                      <a:srgbClr val="4A86E8"/>
                    </a:solidFill>
                  </a:tcPr>
                </a:tc>
                <a:tc>
                  <a:txBody>
                    <a:bodyPr/>
                    <a:lstStyle/>
                    <a:p>
                      <a:pPr indent="0" lvl="0" marL="0" rtl="0" algn="l">
                        <a:spcBef>
                          <a:spcPts val="0"/>
                        </a:spcBef>
                        <a:spcAft>
                          <a:spcPts val="0"/>
                        </a:spcAft>
                        <a:buNone/>
                      </a:pPr>
                      <a:r>
                        <a:rPr b="1" i="1" lang="en"/>
                        <a:t>Charge Ratio</a:t>
                      </a:r>
                      <a:endParaRPr b="1" i="1"/>
                    </a:p>
                  </a:txBody>
                  <a:tcPr marT="91425" marB="91425" marR="91425" marL="91425">
                    <a:solidFill>
                      <a:srgbClr val="4A86E8"/>
                    </a:solidFill>
                  </a:tcPr>
                </a:tc>
                <a:tc>
                  <a:txBody>
                    <a:bodyPr/>
                    <a:lstStyle/>
                    <a:p>
                      <a:pPr indent="0" lvl="0" marL="0" rtl="0" algn="l">
                        <a:spcBef>
                          <a:spcPts val="0"/>
                        </a:spcBef>
                        <a:spcAft>
                          <a:spcPts val="0"/>
                        </a:spcAft>
                        <a:buNone/>
                      </a:pPr>
                      <a:r>
                        <a:rPr b="1" i="1" lang="en"/>
                        <a:t># Benef.</a:t>
                      </a:r>
                      <a:endParaRPr b="1" i="1"/>
                    </a:p>
                  </a:txBody>
                  <a:tcPr marT="91425" marB="91425" marR="91425" marL="91425">
                    <a:solidFill>
                      <a:srgbClr val="4A86E8"/>
                    </a:solidFill>
                  </a:tcPr>
                </a:tc>
              </a:tr>
              <a:tr h="621950">
                <a:tc>
                  <a:txBody>
                    <a:bodyPr/>
                    <a:lstStyle/>
                    <a:p>
                      <a:pPr indent="0" lvl="0" marL="0" rtl="0" algn="l">
                        <a:spcBef>
                          <a:spcPts val="0"/>
                        </a:spcBef>
                        <a:spcAft>
                          <a:spcPts val="0"/>
                        </a:spcAft>
                        <a:buNone/>
                      </a:pPr>
                      <a:r>
                        <a:rPr lang="en"/>
                        <a:t>Anomaly(Score 100)</a:t>
                      </a:r>
                      <a:endParaRPr/>
                    </a:p>
                  </a:txBody>
                  <a:tcPr marT="91425" marB="91425" marR="91425" marL="91425">
                    <a:solidFill>
                      <a:schemeClr val="lt1"/>
                    </a:solidFill>
                  </a:tcPr>
                </a:tc>
                <a:tc>
                  <a:txBody>
                    <a:bodyPr/>
                    <a:lstStyle/>
                    <a:p>
                      <a:pPr indent="0" lvl="0" marL="0" rtl="0" algn="l">
                        <a:spcBef>
                          <a:spcPts val="0"/>
                        </a:spcBef>
                        <a:spcAft>
                          <a:spcPts val="0"/>
                        </a:spcAft>
                        <a:buNone/>
                      </a:pPr>
                      <a:r>
                        <a:rPr lang="en"/>
                        <a:t>1.10256</a:t>
                      </a:r>
                      <a:endParaRPr/>
                    </a:p>
                  </a:txBody>
                  <a:tcPr marT="91425" marB="91425" marR="91425" marL="91425">
                    <a:solidFill>
                      <a:schemeClr val="lt1"/>
                    </a:solidFill>
                  </a:tcPr>
                </a:tc>
                <a:tc>
                  <a:txBody>
                    <a:bodyPr/>
                    <a:lstStyle/>
                    <a:p>
                      <a:pPr indent="0" lvl="0" marL="0" rtl="0" algn="l">
                        <a:spcBef>
                          <a:spcPts val="0"/>
                        </a:spcBef>
                        <a:spcAft>
                          <a:spcPts val="0"/>
                        </a:spcAft>
                        <a:buNone/>
                      </a:pPr>
                      <a:r>
                        <a:rPr lang="en"/>
                        <a:t>1.67586</a:t>
                      </a:r>
                      <a:endParaRPr/>
                    </a:p>
                  </a:txBody>
                  <a:tcPr marT="91425" marB="91425" marR="91425" marL="91425">
                    <a:solidFill>
                      <a:schemeClr val="lt1"/>
                    </a:solidFill>
                  </a:tcPr>
                </a:tc>
                <a:tc>
                  <a:txBody>
                    <a:bodyPr/>
                    <a:lstStyle/>
                    <a:p>
                      <a:pPr indent="0" lvl="0" marL="0" rtl="0" algn="l">
                        <a:spcBef>
                          <a:spcPts val="0"/>
                        </a:spcBef>
                        <a:spcAft>
                          <a:spcPts val="0"/>
                        </a:spcAft>
                        <a:buNone/>
                      </a:pPr>
                      <a:r>
                        <a:rPr lang="en"/>
                        <a:t>39.0</a:t>
                      </a:r>
                      <a:endParaRPr/>
                    </a:p>
                  </a:txBody>
                  <a:tcPr marT="91425" marB="91425" marR="91425" marL="91425">
                    <a:solidFill>
                      <a:schemeClr val="lt1"/>
                    </a:solidFill>
                  </a:tcPr>
                </a:tc>
              </a:tr>
              <a:tr h="621950">
                <a:tc>
                  <a:txBody>
                    <a:bodyPr/>
                    <a:lstStyle/>
                    <a:p>
                      <a:pPr indent="0" lvl="0" marL="0" rtl="0" algn="l">
                        <a:spcBef>
                          <a:spcPts val="0"/>
                        </a:spcBef>
                        <a:spcAft>
                          <a:spcPts val="0"/>
                        </a:spcAft>
                        <a:buNone/>
                      </a:pPr>
                      <a:r>
                        <a:rPr lang="en"/>
                        <a:t>Peer Median</a:t>
                      </a:r>
                      <a:endParaRPr/>
                    </a:p>
                  </a:txBody>
                  <a:tcPr marT="91425" marB="91425" marR="91425" marL="91425">
                    <a:solidFill>
                      <a:schemeClr val="lt1"/>
                    </a:solidFill>
                  </a:tcPr>
                </a:tc>
                <a:tc>
                  <a:txBody>
                    <a:bodyPr/>
                    <a:lstStyle/>
                    <a:p>
                      <a:pPr indent="0" lvl="0" marL="0" rtl="0" algn="l">
                        <a:spcBef>
                          <a:spcPts val="0"/>
                        </a:spcBef>
                        <a:spcAft>
                          <a:spcPts val="0"/>
                        </a:spcAft>
                        <a:buNone/>
                      </a:pPr>
                      <a:r>
                        <a:rPr lang="en"/>
                        <a:t>11.26849</a:t>
                      </a:r>
                      <a:endParaRPr/>
                    </a:p>
                  </a:txBody>
                  <a:tcPr marT="91425" marB="91425" marR="91425" marL="91425">
                    <a:solidFill>
                      <a:schemeClr val="lt1"/>
                    </a:solidFill>
                  </a:tcPr>
                </a:tc>
                <a:tc>
                  <a:txBody>
                    <a:bodyPr/>
                    <a:lstStyle/>
                    <a:p>
                      <a:pPr indent="0" lvl="0" marL="0" rtl="0" algn="l">
                        <a:spcBef>
                          <a:spcPts val="0"/>
                        </a:spcBef>
                        <a:spcAft>
                          <a:spcPts val="0"/>
                        </a:spcAft>
                        <a:buNone/>
                      </a:pPr>
                      <a:r>
                        <a:rPr lang="en"/>
                        <a:t>2.09802</a:t>
                      </a:r>
                      <a:endParaRPr/>
                    </a:p>
                  </a:txBody>
                  <a:tcPr marT="91425" marB="91425" marR="91425" marL="91425">
                    <a:solidFill>
                      <a:schemeClr val="lt1"/>
                    </a:solidFill>
                  </a:tcPr>
                </a:tc>
                <a:tc>
                  <a:txBody>
                    <a:bodyPr/>
                    <a:lstStyle/>
                    <a:p>
                      <a:pPr indent="0" lvl="0" marL="0" rtl="0" algn="l">
                        <a:spcBef>
                          <a:spcPts val="0"/>
                        </a:spcBef>
                        <a:spcAft>
                          <a:spcPts val="0"/>
                        </a:spcAft>
                        <a:buNone/>
                      </a:pPr>
                      <a:r>
                        <a:rPr lang="en"/>
                        <a:t>97.0</a:t>
                      </a:r>
                      <a:endParaRPr/>
                    </a:p>
                  </a:txBody>
                  <a:tcPr marT="91425" marB="91425" marR="91425" marL="91425">
                    <a:solidFill>
                      <a:schemeClr val="lt1"/>
                    </a:solidFill>
                  </a:tcPr>
                </a:tc>
              </a:tr>
            </a:tbl>
          </a:graphicData>
        </a:graphic>
      </p:graphicFrame>
      <p:sp>
        <p:nvSpPr>
          <p:cNvPr id="212" name="Google Shape;212;p35"/>
          <p:cNvSpPr txBox="1"/>
          <p:nvPr/>
        </p:nvSpPr>
        <p:spPr>
          <a:xfrm>
            <a:off x="4798300" y="2383925"/>
            <a:ext cx="3844500" cy="2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Roboto"/>
                <a:ea typeface="Roboto"/>
                <a:cs typeface="Roboto"/>
                <a:sym typeface="Roboto"/>
              </a:rPr>
              <a:t>Comparison between high risk provider and median of the group</a:t>
            </a:r>
            <a:endParaRPr sz="1300">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6"/>
          <p:cNvSpPr txBox="1"/>
          <p:nvPr>
            <p:ph type="title"/>
          </p:nvPr>
        </p:nvSpPr>
        <p:spPr>
          <a:xfrm>
            <a:off x="311725" y="240200"/>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DEMO</a:t>
            </a:r>
            <a:endParaRPr/>
          </a:p>
          <a:p>
            <a:pPr indent="0" lvl="0" marL="0" rtl="0" algn="l">
              <a:spcBef>
                <a:spcPts val="0"/>
              </a:spcBef>
              <a:spcAft>
                <a:spcPts val="0"/>
              </a:spcAft>
              <a:buNone/>
            </a:pPr>
            <a:r>
              <a:rPr lang="en"/>
              <a:t>Isolation Forest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Diana</a:t>
            </a:r>
            <a:endParaRPr/>
          </a:p>
        </p:txBody>
      </p:sp>
      <p:sp>
        <p:nvSpPr>
          <p:cNvPr id="218" name="Google Shape;218;p36"/>
          <p:cNvSpPr txBox="1"/>
          <p:nvPr/>
        </p:nvSpPr>
        <p:spPr>
          <a:xfrm>
            <a:off x="4798300" y="2571750"/>
            <a:ext cx="3844500" cy="2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Roboto"/>
                <a:ea typeface="Roboto"/>
                <a:cs typeface="Roboto"/>
                <a:sym typeface="Roboto"/>
              </a:rPr>
              <a:t>Comparison between high risk provider and median of the group</a:t>
            </a:r>
            <a:endParaRPr sz="1300">
              <a:solidFill>
                <a:schemeClr val="lt1"/>
              </a:solidFill>
              <a:latin typeface="Roboto"/>
              <a:ea typeface="Roboto"/>
              <a:cs typeface="Roboto"/>
              <a:sym typeface="Roboto"/>
            </a:endParaRPr>
          </a:p>
        </p:txBody>
      </p:sp>
      <p:graphicFrame>
        <p:nvGraphicFramePr>
          <p:cNvPr id="219" name="Google Shape;219;p36"/>
          <p:cNvGraphicFramePr/>
          <p:nvPr/>
        </p:nvGraphicFramePr>
        <p:xfrm>
          <a:off x="195525" y="2021675"/>
          <a:ext cx="3000000" cy="3000000"/>
        </p:xfrm>
        <a:graphic>
          <a:graphicData uri="http://schemas.openxmlformats.org/drawingml/2006/table">
            <a:tbl>
              <a:tblPr>
                <a:solidFill>
                  <a:srgbClr val="1E1F22"/>
                </a:solidFill>
                <a:tableStyleId>{87C8A41F-9A00-470D-AF53-0C5FD764C685}</a:tableStyleId>
              </a:tblPr>
              <a:tblGrid>
                <a:gridCol w="500700"/>
                <a:gridCol w="1029225"/>
                <a:gridCol w="713950"/>
                <a:gridCol w="1038475"/>
                <a:gridCol w="834500"/>
                <a:gridCol w="815950"/>
                <a:gridCol w="862325"/>
                <a:gridCol w="936475"/>
                <a:gridCol w="602700"/>
                <a:gridCol w="834500"/>
                <a:gridCol w="584150"/>
              </a:tblGrid>
              <a:tr h="833550">
                <a:tc>
                  <a:txBody>
                    <a:bodyPr/>
                    <a:lstStyle/>
                    <a:p>
                      <a:pPr indent="0" lvl="0" marL="0" rtl="0" algn="r">
                        <a:lnSpc>
                          <a:spcPct val="115000"/>
                        </a:lnSpc>
                        <a:spcBef>
                          <a:spcPts val="800"/>
                        </a:spcBef>
                        <a:spcAft>
                          <a:spcPts val="1100"/>
                        </a:spcAft>
                        <a:buNone/>
                      </a:pPr>
                      <a:r>
                        <a:rPr b="1" lang="en" sz="1100">
                          <a:solidFill>
                            <a:srgbClr val="CCCCCC"/>
                          </a:solidFill>
                          <a:highlight>
                            <a:srgbClr val="1E1F22"/>
                          </a:highlight>
                        </a:rPr>
                        <a:t>NPI</a:t>
                      </a:r>
                      <a:endParaRPr b="1"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b="1" lang="en" sz="1100">
                          <a:solidFill>
                            <a:srgbClr val="CCCCCC"/>
                          </a:solidFill>
                          <a:highlight>
                            <a:srgbClr val="1E1F22"/>
                          </a:highlight>
                        </a:rPr>
                        <a:t>Beneficiaries</a:t>
                      </a:r>
                      <a:endParaRPr b="1"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b="1" lang="en" sz="1100">
                          <a:solidFill>
                            <a:srgbClr val="CCCCCC"/>
                          </a:solidFill>
                          <a:highlight>
                            <a:srgbClr val="1E1F22"/>
                          </a:highlight>
                        </a:rPr>
                        <a:t>Services</a:t>
                      </a:r>
                      <a:endParaRPr b="1"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b="1" lang="en" sz="1100">
                          <a:solidFill>
                            <a:srgbClr val="CCCCCC"/>
                          </a:solidFill>
                          <a:highlight>
                            <a:srgbClr val="1E1F22"/>
                          </a:highlight>
                        </a:rPr>
                        <a:t>Services / Beneficiary</a:t>
                      </a:r>
                      <a:endParaRPr b="1"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b="1" lang="en" sz="1100">
                          <a:solidFill>
                            <a:srgbClr val="CCCCCC"/>
                          </a:solidFill>
                          <a:highlight>
                            <a:srgbClr val="1E1F22"/>
                          </a:highlight>
                        </a:rPr>
                        <a:t>Services / Bene-Day</a:t>
                      </a:r>
                      <a:endParaRPr b="1"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b="1" lang="en" sz="1100">
                          <a:solidFill>
                            <a:srgbClr val="CCCCCC"/>
                          </a:solidFill>
                          <a:highlight>
                            <a:srgbClr val="1E1F22"/>
                          </a:highlight>
                        </a:rPr>
                        <a:t>Charge / Allowed</a:t>
                      </a:r>
                      <a:endParaRPr b="1"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b="1" lang="en" sz="1100">
                          <a:solidFill>
                            <a:srgbClr val="CCCCCC"/>
                          </a:solidFill>
                          <a:highlight>
                            <a:srgbClr val="1E1F22"/>
                          </a:highlight>
                        </a:rPr>
                        <a:t>Payment / Allowed</a:t>
                      </a:r>
                      <a:endParaRPr b="1"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b="1" lang="en" sz="1100">
                          <a:solidFill>
                            <a:srgbClr val="CCCCCC"/>
                          </a:solidFill>
                          <a:highlight>
                            <a:srgbClr val="1E1F22"/>
                          </a:highlight>
                        </a:rPr>
                        <a:t>Std. Medicare Payment</a:t>
                      </a:r>
                      <a:endParaRPr b="1"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b="1" lang="en" sz="1100">
                          <a:solidFill>
                            <a:srgbClr val="CCCCCC"/>
                          </a:solidFill>
                          <a:highlight>
                            <a:srgbClr val="1E1F22"/>
                          </a:highlight>
                        </a:rPr>
                        <a:t>IF Raw Score</a:t>
                      </a:r>
                      <a:endParaRPr b="1"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b="1" lang="en" sz="1100">
                          <a:solidFill>
                            <a:srgbClr val="CCCCCC"/>
                          </a:solidFill>
                          <a:highlight>
                            <a:srgbClr val="1E1F22"/>
                          </a:highlight>
                        </a:rPr>
                        <a:t>Anomaly Score</a:t>
                      </a:r>
                      <a:endParaRPr b="1" sz="1100">
                        <a:solidFill>
                          <a:srgbClr val="CCCCCC"/>
                        </a:solidFill>
                        <a:highlight>
                          <a:srgbClr val="1E1F22"/>
                        </a:highlight>
                      </a:endParaRPr>
                    </a:p>
                  </a:txBody>
                  <a:tcPr marT="69850" marB="69850" marR="69850" marL="69850" anchor="ctr"/>
                </a:tc>
                <a:tc>
                  <a:txBody>
                    <a:bodyPr/>
                    <a:lstStyle/>
                    <a:p>
                      <a:pPr indent="0" lvl="0" marL="0" rtl="0" algn="l">
                        <a:spcBef>
                          <a:spcPts val="0"/>
                        </a:spcBef>
                        <a:spcAft>
                          <a:spcPts val="0"/>
                        </a:spcAft>
                        <a:buNone/>
                      </a:pPr>
                      <a:r>
                        <a:t/>
                      </a:r>
                      <a:endParaRPr/>
                    </a:p>
                  </a:txBody>
                  <a:tcPr marT="91425" marB="91425" marR="91425" marL="91425"/>
                </a:tc>
              </a:tr>
              <a:tr h="502350">
                <a:tc>
                  <a:txBody>
                    <a:bodyPr/>
                    <a:lstStyle/>
                    <a:p>
                      <a:pPr indent="0" lvl="0" marL="0" rtl="0" algn="r">
                        <a:lnSpc>
                          <a:spcPct val="115000"/>
                        </a:lnSpc>
                        <a:spcBef>
                          <a:spcPts val="800"/>
                        </a:spcBef>
                        <a:spcAft>
                          <a:spcPts val="1100"/>
                        </a:spcAft>
                        <a:buNone/>
                      </a:pPr>
                      <a:r>
                        <a:rPr b="1" lang="en" sz="1100">
                          <a:solidFill>
                            <a:srgbClr val="CCCCCC"/>
                          </a:solidFill>
                          <a:highlight>
                            <a:srgbClr val="1E1F22"/>
                          </a:highlight>
                        </a:rPr>
                        <a:t>Rank</a:t>
                      </a:r>
                      <a:endParaRPr b="1" sz="1100">
                        <a:solidFill>
                          <a:srgbClr val="CCCCCC"/>
                        </a:solidFill>
                        <a:highlight>
                          <a:srgbClr val="1E1F22"/>
                        </a:highlight>
                      </a:endParaRPr>
                    </a:p>
                  </a:txBody>
                  <a:tcPr marT="69850" marB="69850" marR="69850" marL="69850" anchor="ctr"/>
                </a:tc>
                <a:tc>
                  <a:txBody>
                    <a:bodyPr/>
                    <a:lstStyle/>
                    <a:p>
                      <a:pPr indent="0" lvl="0" marL="0" rtl="0" algn="l">
                        <a:spcBef>
                          <a:spcPts val="0"/>
                        </a:spcBef>
                        <a:spcAft>
                          <a:spcPts val="0"/>
                        </a:spcAft>
                        <a:buNone/>
                      </a:pPr>
                      <a:r>
                        <a:t/>
                      </a:r>
                      <a:endParaRPr/>
                    </a:p>
                  </a:txBody>
                  <a:tcPr marT="69850" marB="69850" marR="69850" marL="69850" anchor="ctr"/>
                </a:tc>
                <a:tc>
                  <a:txBody>
                    <a:bodyPr/>
                    <a:lstStyle/>
                    <a:p>
                      <a:pPr indent="0" lvl="0" marL="0" rtl="0" algn="l">
                        <a:spcBef>
                          <a:spcPts val="0"/>
                        </a:spcBef>
                        <a:spcAft>
                          <a:spcPts val="0"/>
                        </a:spcAft>
                        <a:buNone/>
                      </a:pPr>
                      <a:r>
                        <a:t/>
                      </a:r>
                      <a:endParaRPr/>
                    </a:p>
                  </a:txBody>
                  <a:tcPr marT="69850" marB="69850" marR="69850" marL="69850" anchor="ctr"/>
                </a:tc>
                <a:tc>
                  <a:txBody>
                    <a:bodyPr/>
                    <a:lstStyle/>
                    <a:p>
                      <a:pPr indent="0" lvl="0" marL="0" rtl="0" algn="l">
                        <a:spcBef>
                          <a:spcPts val="0"/>
                        </a:spcBef>
                        <a:spcAft>
                          <a:spcPts val="0"/>
                        </a:spcAft>
                        <a:buNone/>
                      </a:pPr>
                      <a:r>
                        <a:t/>
                      </a:r>
                      <a:endParaRPr/>
                    </a:p>
                  </a:txBody>
                  <a:tcPr marT="69850" marB="69850" marR="69850" marL="69850" anchor="ctr"/>
                </a:tc>
                <a:tc>
                  <a:txBody>
                    <a:bodyPr/>
                    <a:lstStyle/>
                    <a:p>
                      <a:pPr indent="0" lvl="0" marL="0" rtl="0" algn="l">
                        <a:spcBef>
                          <a:spcPts val="0"/>
                        </a:spcBef>
                        <a:spcAft>
                          <a:spcPts val="0"/>
                        </a:spcAft>
                        <a:buNone/>
                      </a:pPr>
                      <a:r>
                        <a:t/>
                      </a:r>
                      <a:endParaRPr/>
                    </a:p>
                  </a:txBody>
                  <a:tcPr marT="69850" marB="69850" marR="69850" marL="69850" anchor="ctr"/>
                </a:tc>
                <a:tc>
                  <a:txBody>
                    <a:bodyPr/>
                    <a:lstStyle/>
                    <a:p>
                      <a:pPr indent="0" lvl="0" marL="0" rtl="0" algn="l">
                        <a:spcBef>
                          <a:spcPts val="0"/>
                        </a:spcBef>
                        <a:spcAft>
                          <a:spcPts val="0"/>
                        </a:spcAft>
                        <a:buNone/>
                      </a:pPr>
                      <a:r>
                        <a:t/>
                      </a:r>
                      <a:endParaRPr/>
                    </a:p>
                  </a:txBody>
                  <a:tcPr marT="69850" marB="69850" marR="69850" marL="69850" anchor="ctr"/>
                </a:tc>
                <a:tc>
                  <a:txBody>
                    <a:bodyPr/>
                    <a:lstStyle/>
                    <a:p>
                      <a:pPr indent="0" lvl="0" marL="0" rtl="0" algn="l">
                        <a:spcBef>
                          <a:spcPts val="0"/>
                        </a:spcBef>
                        <a:spcAft>
                          <a:spcPts val="0"/>
                        </a:spcAft>
                        <a:buNone/>
                      </a:pPr>
                      <a:r>
                        <a:t/>
                      </a:r>
                      <a:endParaRPr/>
                    </a:p>
                  </a:txBody>
                  <a:tcPr marT="69850" marB="69850" marR="69850" marL="69850" anchor="ctr"/>
                </a:tc>
                <a:tc>
                  <a:txBody>
                    <a:bodyPr/>
                    <a:lstStyle/>
                    <a:p>
                      <a:pPr indent="0" lvl="0" marL="0" rtl="0" algn="l">
                        <a:spcBef>
                          <a:spcPts val="0"/>
                        </a:spcBef>
                        <a:spcAft>
                          <a:spcPts val="0"/>
                        </a:spcAft>
                        <a:buNone/>
                      </a:pPr>
                      <a:r>
                        <a:t/>
                      </a:r>
                      <a:endParaRPr/>
                    </a:p>
                  </a:txBody>
                  <a:tcPr marT="69850" marB="69850" marR="69850" marL="69850" anchor="ctr"/>
                </a:tc>
                <a:tc>
                  <a:txBody>
                    <a:bodyPr/>
                    <a:lstStyle/>
                    <a:p>
                      <a:pPr indent="0" lvl="0" marL="0" rtl="0" algn="l">
                        <a:spcBef>
                          <a:spcPts val="0"/>
                        </a:spcBef>
                        <a:spcAft>
                          <a:spcPts val="0"/>
                        </a:spcAft>
                        <a:buNone/>
                      </a:pPr>
                      <a:r>
                        <a:t/>
                      </a:r>
                      <a:endParaRPr/>
                    </a:p>
                  </a:txBody>
                  <a:tcPr marT="69850" marB="69850" marR="69850" marL="69850" anchor="ctr"/>
                </a:tc>
                <a:tc>
                  <a:txBody>
                    <a:bodyPr/>
                    <a:lstStyle/>
                    <a:p>
                      <a:pPr indent="0" lvl="0" marL="0" rtl="0" algn="l">
                        <a:spcBef>
                          <a:spcPts val="0"/>
                        </a:spcBef>
                        <a:spcAft>
                          <a:spcPts val="0"/>
                        </a:spcAft>
                        <a:buNone/>
                      </a:pPr>
                      <a:r>
                        <a:t/>
                      </a:r>
                      <a:endParaRPr/>
                    </a:p>
                  </a:txBody>
                  <a:tcPr marT="69850" marB="69850" marR="69850" marL="69850" anchor="ctr"/>
                </a:tc>
                <a:tc>
                  <a:txBody>
                    <a:bodyPr/>
                    <a:lstStyle/>
                    <a:p>
                      <a:pPr indent="0" lvl="0" marL="0" rtl="0" algn="l">
                        <a:spcBef>
                          <a:spcPts val="0"/>
                        </a:spcBef>
                        <a:spcAft>
                          <a:spcPts val="0"/>
                        </a:spcAft>
                        <a:buNone/>
                      </a:pPr>
                      <a:r>
                        <a:t/>
                      </a:r>
                      <a:endParaRPr/>
                    </a:p>
                  </a:txBody>
                  <a:tcPr marT="69850" marB="69850" marR="69850" marL="69850" anchor="ctr"/>
                </a:tc>
              </a:tr>
              <a:tr h="502350">
                <a:tc>
                  <a:txBody>
                    <a:bodyPr/>
                    <a:lstStyle/>
                    <a:p>
                      <a:pPr indent="0" lvl="0" marL="0" rtl="0" algn="r">
                        <a:lnSpc>
                          <a:spcPct val="115000"/>
                        </a:lnSpc>
                        <a:spcBef>
                          <a:spcPts val="800"/>
                        </a:spcBef>
                        <a:spcAft>
                          <a:spcPts val="1100"/>
                        </a:spcAft>
                        <a:buNone/>
                      </a:pPr>
                      <a:r>
                        <a:rPr b="1" lang="en" sz="1100">
                          <a:solidFill>
                            <a:srgbClr val="CCCCCC"/>
                          </a:solidFill>
                          <a:highlight>
                            <a:srgbClr val="1E1F22"/>
                          </a:highlight>
                        </a:rPr>
                        <a:t>1</a:t>
                      </a:r>
                      <a:endParaRPr b="1"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1063709962</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39</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43.0</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1.10</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1.02</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11.27</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0.41</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50.93</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0.733</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100.00</a:t>
                      </a:r>
                      <a:endParaRPr sz="1100">
                        <a:solidFill>
                          <a:srgbClr val="CCCCCC"/>
                        </a:solidFill>
                        <a:highlight>
                          <a:srgbClr val="1E1F22"/>
                        </a:highlight>
                      </a:endParaRPr>
                    </a:p>
                  </a:txBody>
                  <a:tcPr marT="69850" marB="69850" marR="69850" marL="69850" anchor="ctr"/>
                </a:tc>
              </a:tr>
              <a:tr h="502350">
                <a:tc>
                  <a:txBody>
                    <a:bodyPr/>
                    <a:lstStyle/>
                    <a:p>
                      <a:pPr indent="0" lvl="0" marL="0" rtl="0" algn="r">
                        <a:lnSpc>
                          <a:spcPct val="115000"/>
                        </a:lnSpc>
                        <a:spcBef>
                          <a:spcPts val="800"/>
                        </a:spcBef>
                        <a:spcAft>
                          <a:spcPts val="1100"/>
                        </a:spcAft>
                        <a:buNone/>
                      </a:pPr>
                      <a:r>
                        <a:rPr b="1" lang="en" sz="1100">
                          <a:solidFill>
                            <a:srgbClr val="CCCCCC"/>
                          </a:solidFill>
                          <a:highlight>
                            <a:srgbClr val="1E1F22"/>
                          </a:highlight>
                        </a:rPr>
                        <a:t>2</a:t>
                      </a:r>
                      <a:endParaRPr b="1"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1699168328</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76</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152.0</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2.00</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1.04</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11.72</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0.63</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78.47</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0.713</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100.00</a:t>
                      </a:r>
                      <a:endParaRPr sz="1100">
                        <a:solidFill>
                          <a:srgbClr val="CCCCCC"/>
                        </a:solidFill>
                        <a:highlight>
                          <a:srgbClr val="1E1F22"/>
                        </a:highlight>
                      </a:endParaRPr>
                    </a:p>
                  </a:txBody>
                  <a:tcPr marT="69850" marB="69850" marR="69850" marL="69850" anchor="ctr"/>
                </a:tc>
              </a:tr>
              <a:tr h="502350">
                <a:tc>
                  <a:txBody>
                    <a:bodyPr/>
                    <a:lstStyle/>
                    <a:p>
                      <a:pPr indent="0" lvl="0" marL="0" rtl="0" algn="r">
                        <a:lnSpc>
                          <a:spcPct val="115000"/>
                        </a:lnSpc>
                        <a:spcBef>
                          <a:spcPts val="800"/>
                        </a:spcBef>
                        <a:spcAft>
                          <a:spcPts val="1100"/>
                        </a:spcAft>
                        <a:buNone/>
                      </a:pPr>
                      <a:r>
                        <a:rPr b="1" lang="en" sz="1100">
                          <a:solidFill>
                            <a:srgbClr val="CCCCCC"/>
                          </a:solidFill>
                          <a:highlight>
                            <a:srgbClr val="1E1F22"/>
                          </a:highlight>
                        </a:rPr>
                        <a:t>3</a:t>
                      </a:r>
                      <a:endParaRPr b="1"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1477713139</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20</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36.0</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1.80</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1.03</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11.75</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0.64</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80.57</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0.710</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100.00</a:t>
                      </a:r>
                      <a:endParaRPr sz="1100">
                        <a:solidFill>
                          <a:srgbClr val="CCCCCC"/>
                        </a:solidFill>
                        <a:highlight>
                          <a:srgbClr val="1E1F22"/>
                        </a:highlight>
                      </a:endParaRPr>
                    </a:p>
                  </a:txBody>
                  <a:tcPr marT="69850" marB="69850" marR="69850" marL="69850" anchor="ctr"/>
                </a:tc>
              </a:tr>
              <a:tr h="502350">
                <a:tc>
                  <a:txBody>
                    <a:bodyPr/>
                    <a:lstStyle/>
                    <a:p>
                      <a:pPr indent="0" lvl="0" marL="0" rtl="0" algn="r">
                        <a:lnSpc>
                          <a:spcPct val="115000"/>
                        </a:lnSpc>
                        <a:spcBef>
                          <a:spcPts val="800"/>
                        </a:spcBef>
                        <a:spcAft>
                          <a:spcPts val="1100"/>
                        </a:spcAft>
                        <a:buNone/>
                      </a:pPr>
                      <a:r>
                        <a:rPr b="1" lang="en" sz="1100">
                          <a:solidFill>
                            <a:srgbClr val="CCCCCC"/>
                          </a:solidFill>
                          <a:highlight>
                            <a:srgbClr val="1E1F22"/>
                          </a:highlight>
                        </a:rPr>
                        <a:t>4</a:t>
                      </a:r>
                      <a:endParaRPr b="1"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1376040709</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63</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107.0</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1.70</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1.02</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11.71</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0.57</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71.43</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0.702</a:t>
                      </a:r>
                      <a:endParaRPr sz="1100">
                        <a:solidFill>
                          <a:srgbClr val="CCCCCC"/>
                        </a:solidFill>
                        <a:highlight>
                          <a:srgbClr val="1E1F22"/>
                        </a:highlight>
                      </a:endParaRPr>
                    </a:p>
                  </a:txBody>
                  <a:tcPr marT="69850" marB="69850" marR="69850" marL="69850" anchor="ctr"/>
                </a:tc>
                <a:tc>
                  <a:txBody>
                    <a:bodyPr/>
                    <a:lstStyle/>
                    <a:p>
                      <a:pPr indent="0" lvl="0" marL="0" rtl="0" algn="r">
                        <a:lnSpc>
                          <a:spcPct val="115000"/>
                        </a:lnSpc>
                        <a:spcBef>
                          <a:spcPts val="800"/>
                        </a:spcBef>
                        <a:spcAft>
                          <a:spcPts val="1100"/>
                        </a:spcAft>
                        <a:buNone/>
                      </a:pPr>
                      <a:r>
                        <a:rPr lang="en" sz="1100">
                          <a:solidFill>
                            <a:srgbClr val="CCCCCC"/>
                          </a:solidFill>
                          <a:highlight>
                            <a:srgbClr val="1E1F22"/>
                          </a:highlight>
                        </a:rPr>
                        <a:t>99.99</a:t>
                      </a:r>
                      <a:endParaRPr sz="1100">
                        <a:solidFill>
                          <a:srgbClr val="CCCCCC"/>
                        </a:solidFill>
                        <a:highlight>
                          <a:srgbClr val="1E1F22"/>
                        </a:highlight>
                      </a:endParaRPr>
                    </a:p>
                  </a:txBody>
                  <a:tcPr marT="69850" marB="69850" marR="69850" marL="69850" anchor="ctr"/>
                </a:tc>
              </a:tr>
            </a:tbl>
          </a:graphicData>
        </a:graphic>
      </p:graphicFrame>
      <p:sp>
        <p:nvSpPr>
          <p:cNvPr id="220" name="Google Shape;220;p36"/>
          <p:cNvSpPr txBox="1"/>
          <p:nvPr/>
        </p:nvSpPr>
        <p:spPr>
          <a:xfrm>
            <a:off x="4419900" y="235900"/>
            <a:ext cx="4357800" cy="165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E1F22"/>
                </a:solidFill>
                <a:latin typeface="Roboto"/>
                <a:ea typeface="Roboto"/>
                <a:cs typeface="Roboto"/>
                <a:sym typeface="Roboto"/>
              </a:rPr>
              <a:t>This table shows the top anomaly records within a peer group, including provider volume, service intensity, billing ration, and Medicare payment information. The IF Raw Score is the direct Isolation Forest Anomaly Score, where higher values indicate more unusual behavior, while Anomaly score converts that ranking into a peer relative 0-100 percentile</a:t>
            </a:r>
            <a:endParaRPr>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7"/>
          <p:cNvSpPr txBox="1"/>
          <p:nvPr>
            <p:ph type="title"/>
          </p:nvPr>
        </p:nvSpPr>
        <p:spPr>
          <a:xfrm>
            <a:off x="311725" y="240200"/>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Modeling Isolation Forest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Diana</a:t>
            </a:r>
            <a:endParaRPr/>
          </a:p>
        </p:txBody>
      </p:sp>
      <p:sp>
        <p:nvSpPr>
          <p:cNvPr id="226" name="Google Shape;226;p37"/>
          <p:cNvSpPr txBox="1"/>
          <p:nvPr>
            <p:ph idx="1" type="body"/>
          </p:nvPr>
        </p:nvSpPr>
        <p:spPr>
          <a:xfrm>
            <a:off x="4429775" y="674375"/>
            <a:ext cx="4598700" cy="3664500"/>
          </a:xfrm>
          <a:prstGeom prst="rect">
            <a:avLst/>
          </a:prstGeom>
        </p:spPr>
        <p:txBody>
          <a:bodyPr anchorCtr="0" anchor="t" bIns="91425" lIns="91425" spcFirstLastPara="1" rIns="91425" wrap="square" tIns="91425">
            <a:normAutofit lnSpcReduction="10000"/>
          </a:bodyPr>
          <a:lstStyle/>
          <a:p>
            <a:pPr indent="-323850" lvl="0" marL="457200" rtl="0" algn="l">
              <a:spcBef>
                <a:spcPts val="0"/>
              </a:spcBef>
              <a:spcAft>
                <a:spcPts val="0"/>
              </a:spcAft>
              <a:buClr>
                <a:srgbClr val="000000"/>
              </a:buClr>
              <a:buSzPts val="1500"/>
              <a:buChar char="●"/>
            </a:pPr>
            <a:r>
              <a:rPr lang="en" sz="1500">
                <a:solidFill>
                  <a:srgbClr val="000000"/>
                </a:solidFill>
              </a:rPr>
              <a:t>IF Raw Score: Based on average path lengths across random isolation trees. Records isolated with fewer splits are more anomalous. Scores are inverted ( x (-1)) so higher values indicate stronger anomalies.</a:t>
            </a:r>
            <a:endParaRPr sz="1500">
              <a:solidFill>
                <a:srgbClr val="000000"/>
              </a:solidFill>
            </a:endParaRPr>
          </a:p>
          <a:p>
            <a:pPr indent="0" lvl="0" marL="0" rtl="0" algn="l">
              <a:spcBef>
                <a:spcPts val="1200"/>
              </a:spcBef>
              <a:spcAft>
                <a:spcPts val="0"/>
              </a:spcAft>
              <a:buNone/>
            </a:pPr>
            <a:r>
              <a:t/>
            </a:r>
            <a:endParaRPr sz="1500">
              <a:solidFill>
                <a:srgbClr val="000000"/>
              </a:solidFill>
            </a:endParaRPr>
          </a:p>
          <a:p>
            <a:pPr indent="-323850" lvl="0" marL="457200" rtl="0" algn="l">
              <a:spcBef>
                <a:spcPts val="1200"/>
              </a:spcBef>
              <a:spcAft>
                <a:spcPts val="0"/>
              </a:spcAft>
              <a:buClr>
                <a:srgbClr val="000000"/>
              </a:buClr>
              <a:buSzPts val="1500"/>
              <a:buChar char="●"/>
            </a:pPr>
            <a:r>
              <a:rPr lang="en" sz="1500">
                <a:solidFill>
                  <a:srgbClr val="000000"/>
                </a:solidFill>
              </a:rPr>
              <a:t>Anomaly Score (0–100): Raw scores are ranked within each peer group using rank(pct=True) × 100. Higher percentiles indicate more anomalous records relative to their peers.</a:t>
            </a:r>
            <a:endParaRPr sz="1500">
              <a:solidFill>
                <a:srgbClr val="000000"/>
              </a:solidFill>
            </a:endParaRPr>
          </a:p>
          <a:p>
            <a:pPr indent="0" lvl="0" marL="457200" rtl="0" algn="l">
              <a:spcBef>
                <a:spcPts val="1200"/>
              </a:spcBef>
              <a:spcAft>
                <a:spcPts val="1200"/>
              </a:spcAft>
              <a:buNone/>
            </a:pPr>
            <a:r>
              <a:t/>
            </a:r>
            <a:endParaRPr sz="15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8"/>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Progress to Date</a:t>
            </a:r>
            <a:endParaRPr/>
          </a:p>
          <a:p>
            <a:pPr indent="0" lvl="0" marL="0" rtl="0" algn="l">
              <a:spcBef>
                <a:spcPts val="0"/>
              </a:spcBef>
              <a:spcAft>
                <a:spcPts val="0"/>
              </a:spcAft>
              <a:buNone/>
            </a:pPr>
            <a:r>
              <a:rPr lang="en"/>
              <a:t>Diana</a:t>
            </a:r>
            <a:endParaRPr/>
          </a:p>
        </p:txBody>
      </p:sp>
      <p:sp>
        <p:nvSpPr>
          <p:cNvPr id="232" name="Google Shape;232;p38"/>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1E1F22"/>
              </a:buClr>
              <a:buSzPts val="1500"/>
              <a:buAutoNum type="arabicPeriod"/>
            </a:pPr>
            <a:r>
              <a:rPr lang="en" sz="1500">
                <a:solidFill>
                  <a:srgbClr val="1E1F22"/>
                </a:solidFill>
              </a:rPr>
              <a:t>Completed dataset review and variable interpretation</a:t>
            </a:r>
            <a:endParaRPr sz="1500">
              <a:solidFill>
                <a:srgbClr val="1E1F22"/>
              </a:solidFill>
            </a:endParaRPr>
          </a:p>
          <a:p>
            <a:pPr indent="-323850" lvl="0" marL="457200" rtl="0" algn="l">
              <a:spcBef>
                <a:spcPts val="0"/>
              </a:spcBef>
              <a:spcAft>
                <a:spcPts val="0"/>
              </a:spcAft>
              <a:buClr>
                <a:srgbClr val="1E1F22"/>
              </a:buClr>
              <a:buSzPts val="1500"/>
              <a:buAutoNum type="arabicPeriod"/>
            </a:pPr>
            <a:r>
              <a:rPr lang="en" sz="1500">
                <a:solidFill>
                  <a:srgbClr val="1E1F22"/>
                </a:solidFill>
              </a:rPr>
              <a:t>Completed initial exploratory data analysis</a:t>
            </a:r>
            <a:endParaRPr sz="1500">
              <a:solidFill>
                <a:srgbClr val="1E1F22"/>
              </a:solidFill>
            </a:endParaRPr>
          </a:p>
          <a:p>
            <a:pPr indent="-323850" lvl="0" marL="457200" rtl="0" algn="l">
              <a:spcBef>
                <a:spcPts val="0"/>
              </a:spcBef>
              <a:spcAft>
                <a:spcPts val="0"/>
              </a:spcAft>
              <a:buClr>
                <a:srgbClr val="1E1F22"/>
              </a:buClr>
              <a:buSzPts val="1500"/>
              <a:buAutoNum type="arabicPeriod"/>
            </a:pPr>
            <a:r>
              <a:rPr lang="en" sz="1500">
                <a:solidFill>
                  <a:srgbClr val="1E1F22"/>
                </a:solidFill>
              </a:rPr>
              <a:t>Identified major differences across </a:t>
            </a:r>
            <a:r>
              <a:rPr lang="en" sz="1500">
                <a:solidFill>
                  <a:srgbClr val="1E1F22"/>
                </a:solidFill>
              </a:rPr>
              <a:t>provider</a:t>
            </a:r>
            <a:r>
              <a:rPr lang="en" sz="1500">
                <a:solidFill>
                  <a:srgbClr val="1E1F22"/>
                </a:solidFill>
              </a:rPr>
              <a:t> types, HCPCS codes, and places of service</a:t>
            </a:r>
            <a:endParaRPr sz="1500">
              <a:solidFill>
                <a:srgbClr val="1E1F22"/>
              </a:solidFill>
            </a:endParaRPr>
          </a:p>
          <a:p>
            <a:pPr indent="-323850" lvl="0" marL="457200" rtl="0" algn="l">
              <a:spcBef>
                <a:spcPts val="0"/>
              </a:spcBef>
              <a:spcAft>
                <a:spcPts val="0"/>
              </a:spcAft>
              <a:buClr>
                <a:srgbClr val="1E1F22"/>
              </a:buClr>
              <a:buSzPts val="1500"/>
              <a:buAutoNum type="arabicPeriod"/>
            </a:pPr>
            <a:r>
              <a:rPr lang="en" sz="1500">
                <a:solidFill>
                  <a:srgbClr val="1E1F22"/>
                </a:solidFill>
              </a:rPr>
              <a:t>Defined most of peer group methodology</a:t>
            </a:r>
            <a:endParaRPr sz="1500">
              <a:solidFill>
                <a:srgbClr val="1E1F22"/>
              </a:solidFill>
            </a:endParaRPr>
          </a:p>
          <a:p>
            <a:pPr indent="-323850" lvl="0" marL="457200" rtl="0" algn="l">
              <a:spcBef>
                <a:spcPts val="0"/>
              </a:spcBef>
              <a:spcAft>
                <a:spcPts val="0"/>
              </a:spcAft>
              <a:buClr>
                <a:srgbClr val="1E1F22"/>
              </a:buClr>
              <a:buSzPts val="1500"/>
              <a:buAutoNum type="arabicPeriod"/>
            </a:pPr>
            <a:r>
              <a:rPr lang="en" sz="1500">
                <a:solidFill>
                  <a:srgbClr val="1E1F22"/>
                </a:solidFill>
              </a:rPr>
              <a:t>Build initial robust z-scores, Isolation Forest, and DBSCAN models</a:t>
            </a:r>
            <a:endParaRPr sz="1500">
              <a:solidFill>
                <a:srgbClr val="1E1F22"/>
              </a:solidFill>
            </a:endParaRPr>
          </a:p>
          <a:p>
            <a:pPr indent="-323850" lvl="0" marL="457200" rtl="0" algn="l">
              <a:spcBef>
                <a:spcPts val="0"/>
              </a:spcBef>
              <a:spcAft>
                <a:spcPts val="0"/>
              </a:spcAft>
              <a:buClr>
                <a:srgbClr val="1E1F22"/>
              </a:buClr>
              <a:buSzPts val="1500"/>
              <a:buAutoNum type="arabicPeriod"/>
            </a:pPr>
            <a:r>
              <a:rPr lang="en" sz="1500">
                <a:solidFill>
                  <a:srgbClr val="1E1F22"/>
                </a:solidFill>
              </a:rPr>
              <a:t>Produced peer relative anomaly scores</a:t>
            </a:r>
            <a:endParaRPr sz="1500">
              <a:solidFill>
                <a:srgbClr val="1E1F22"/>
              </a:solidFill>
            </a:endParaRPr>
          </a:p>
          <a:p>
            <a:pPr indent="-323850" lvl="0" marL="457200" rtl="0" algn="l">
              <a:spcBef>
                <a:spcPts val="0"/>
              </a:spcBef>
              <a:spcAft>
                <a:spcPts val="0"/>
              </a:spcAft>
              <a:buClr>
                <a:srgbClr val="1E1F22"/>
              </a:buClr>
              <a:buSzPts val="1500"/>
              <a:buAutoNum type="arabicPeriod"/>
            </a:pPr>
            <a:r>
              <a:rPr lang="en" sz="1500">
                <a:solidFill>
                  <a:srgbClr val="1E1F22"/>
                </a:solidFill>
              </a:rPr>
              <a:t>Tested different minimum peer group sizes</a:t>
            </a:r>
            <a:endParaRPr sz="15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9"/>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Challenges</a:t>
            </a:r>
            <a:r>
              <a:rPr lang="en"/>
              <a:t> and Next Steps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Diana</a:t>
            </a:r>
            <a:endParaRPr/>
          </a:p>
        </p:txBody>
      </p:sp>
      <p:sp>
        <p:nvSpPr>
          <p:cNvPr id="238" name="Google Shape;238;p39"/>
          <p:cNvSpPr txBox="1"/>
          <p:nvPr>
            <p:ph idx="1" type="body"/>
          </p:nvPr>
        </p:nvSpPr>
        <p:spPr>
          <a:xfrm>
            <a:off x="4572000" y="351925"/>
            <a:ext cx="4166400" cy="40986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b="1" lang="en" sz="1500">
                <a:solidFill>
                  <a:srgbClr val="000000"/>
                </a:solidFill>
              </a:rPr>
              <a:t>Challenges</a:t>
            </a:r>
            <a:r>
              <a:rPr b="1" lang="en" sz="1500">
                <a:solidFill>
                  <a:srgbClr val="000000"/>
                </a:solidFill>
              </a:rPr>
              <a:t>:</a:t>
            </a:r>
            <a:endParaRPr b="1" sz="1500">
              <a:solidFill>
                <a:srgbClr val="000000"/>
              </a:solidFill>
            </a:endParaRPr>
          </a:p>
          <a:p>
            <a:pPr indent="-323850" lvl="0" marL="457200" rtl="0" algn="l">
              <a:lnSpc>
                <a:spcPct val="105000"/>
              </a:lnSpc>
              <a:spcBef>
                <a:spcPts val="1200"/>
              </a:spcBef>
              <a:spcAft>
                <a:spcPts val="0"/>
              </a:spcAft>
              <a:buClr>
                <a:srgbClr val="000000"/>
              </a:buClr>
              <a:buSzPts val="1500"/>
              <a:buAutoNum type="arabicPeriod"/>
            </a:pPr>
            <a:r>
              <a:rPr lang="en" sz="1500">
                <a:solidFill>
                  <a:srgbClr val="000000"/>
                </a:solidFill>
              </a:rPr>
              <a:t>Continue discussion on peer groups size</a:t>
            </a:r>
            <a:endParaRPr sz="1500">
              <a:solidFill>
                <a:srgbClr val="000000"/>
              </a:solidFill>
            </a:endParaRPr>
          </a:p>
          <a:p>
            <a:pPr indent="-323850" lvl="0" marL="457200" rtl="0" algn="l">
              <a:lnSpc>
                <a:spcPct val="105000"/>
              </a:lnSpc>
              <a:spcBef>
                <a:spcPts val="0"/>
              </a:spcBef>
              <a:spcAft>
                <a:spcPts val="0"/>
              </a:spcAft>
              <a:buClr>
                <a:srgbClr val="000000"/>
              </a:buClr>
              <a:buSzPts val="1500"/>
              <a:buAutoNum type="arabicPeriod"/>
            </a:pPr>
            <a:r>
              <a:rPr lang="en" sz="1500">
                <a:solidFill>
                  <a:srgbClr val="000000"/>
                </a:solidFill>
              </a:rPr>
              <a:t>Designing fallback logic for peer </a:t>
            </a:r>
            <a:r>
              <a:rPr lang="en" sz="1500">
                <a:solidFill>
                  <a:srgbClr val="000000"/>
                </a:solidFill>
              </a:rPr>
              <a:t>groups</a:t>
            </a:r>
            <a:r>
              <a:rPr lang="en" sz="1500">
                <a:solidFill>
                  <a:srgbClr val="000000"/>
                </a:solidFill>
              </a:rPr>
              <a:t> that remain too small</a:t>
            </a:r>
            <a:endParaRPr sz="1500">
              <a:solidFill>
                <a:srgbClr val="000000"/>
              </a:solidFill>
            </a:endParaRPr>
          </a:p>
          <a:p>
            <a:pPr indent="-323850" lvl="0" marL="457200" rtl="0" algn="l">
              <a:lnSpc>
                <a:spcPct val="105000"/>
              </a:lnSpc>
              <a:spcBef>
                <a:spcPts val="0"/>
              </a:spcBef>
              <a:spcAft>
                <a:spcPts val="0"/>
              </a:spcAft>
              <a:buClr>
                <a:srgbClr val="000000"/>
              </a:buClr>
              <a:buSzPts val="1500"/>
              <a:buAutoNum type="arabicPeriod"/>
            </a:pPr>
            <a:r>
              <a:rPr lang="en" sz="1500">
                <a:solidFill>
                  <a:srgbClr val="000000"/>
                </a:solidFill>
              </a:rPr>
              <a:t>Validate an unsupervised model without confirmed fraud labels</a:t>
            </a:r>
            <a:endParaRPr sz="1500">
              <a:solidFill>
                <a:srgbClr val="000000"/>
              </a:solidFill>
            </a:endParaRPr>
          </a:p>
          <a:p>
            <a:pPr indent="0" lvl="0" marL="0" rtl="0" algn="l">
              <a:lnSpc>
                <a:spcPct val="105000"/>
              </a:lnSpc>
              <a:spcBef>
                <a:spcPts val="1200"/>
              </a:spcBef>
              <a:spcAft>
                <a:spcPts val="0"/>
              </a:spcAft>
              <a:buNone/>
            </a:pPr>
            <a:r>
              <a:rPr b="1" lang="en" sz="1500">
                <a:solidFill>
                  <a:srgbClr val="000000"/>
                </a:solidFill>
              </a:rPr>
              <a:t>Next Steps:</a:t>
            </a:r>
            <a:endParaRPr b="1" sz="1500">
              <a:solidFill>
                <a:srgbClr val="000000"/>
              </a:solidFill>
            </a:endParaRPr>
          </a:p>
          <a:p>
            <a:pPr indent="-323850" lvl="0" marL="457200" rtl="0" algn="l">
              <a:lnSpc>
                <a:spcPct val="105000"/>
              </a:lnSpc>
              <a:spcBef>
                <a:spcPts val="1200"/>
              </a:spcBef>
              <a:spcAft>
                <a:spcPts val="0"/>
              </a:spcAft>
              <a:buClr>
                <a:srgbClr val="000000"/>
              </a:buClr>
              <a:buSzPts val="1500"/>
              <a:buAutoNum type="arabicPeriod"/>
            </a:pPr>
            <a:r>
              <a:rPr lang="en" sz="1500">
                <a:solidFill>
                  <a:srgbClr val="000000"/>
                </a:solidFill>
              </a:rPr>
              <a:t>Run and train our finalized models</a:t>
            </a:r>
            <a:endParaRPr sz="1500">
              <a:solidFill>
                <a:srgbClr val="000000"/>
              </a:solidFill>
            </a:endParaRPr>
          </a:p>
          <a:p>
            <a:pPr indent="-323850" lvl="0" marL="457200" rtl="0" algn="l">
              <a:lnSpc>
                <a:spcPct val="105000"/>
              </a:lnSpc>
              <a:spcBef>
                <a:spcPts val="0"/>
              </a:spcBef>
              <a:spcAft>
                <a:spcPts val="0"/>
              </a:spcAft>
              <a:buClr>
                <a:srgbClr val="000000"/>
              </a:buClr>
              <a:buSzPts val="1500"/>
              <a:buAutoNum type="arabicPeriod"/>
            </a:pPr>
            <a:r>
              <a:rPr lang="en" sz="1500">
                <a:solidFill>
                  <a:srgbClr val="000000"/>
                </a:solidFill>
              </a:rPr>
              <a:t>Compare results with each other and robust peer-relative baseline</a:t>
            </a:r>
            <a:endParaRPr sz="1500">
              <a:solidFill>
                <a:srgbClr val="000000"/>
              </a:solidFill>
            </a:endParaRPr>
          </a:p>
          <a:p>
            <a:pPr indent="-323850" lvl="0" marL="457200" rtl="0" algn="l">
              <a:lnSpc>
                <a:spcPct val="105000"/>
              </a:lnSpc>
              <a:spcBef>
                <a:spcPts val="0"/>
              </a:spcBef>
              <a:spcAft>
                <a:spcPts val="0"/>
              </a:spcAft>
              <a:buClr>
                <a:srgbClr val="000000"/>
              </a:buClr>
              <a:buSzPts val="1500"/>
              <a:buAutoNum type="arabicPeriod"/>
            </a:pPr>
            <a:r>
              <a:rPr lang="en" sz="1500">
                <a:solidFill>
                  <a:srgbClr val="000000"/>
                </a:solidFill>
              </a:rPr>
              <a:t>Perform additional stability and sensitivity testing</a:t>
            </a:r>
            <a:endParaRPr sz="1500">
              <a:solidFill>
                <a:srgbClr val="000000"/>
              </a:solidFill>
            </a:endParaRPr>
          </a:p>
          <a:p>
            <a:pPr indent="-323850" lvl="0" marL="457200" rtl="0" algn="l">
              <a:lnSpc>
                <a:spcPct val="105000"/>
              </a:lnSpc>
              <a:spcBef>
                <a:spcPts val="0"/>
              </a:spcBef>
              <a:spcAft>
                <a:spcPts val="0"/>
              </a:spcAft>
              <a:buClr>
                <a:srgbClr val="000000"/>
              </a:buClr>
              <a:buSzPts val="1500"/>
              <a:buAutoNum type="arabicPeriod"/>
            </a:pPr>
            <a:r>
              <a:rPr lang="en" sz="1500">
                <a:solidFill>
                  <a:srgbClr val="000000"/>
                </a:solidFill>
              </a:rPr>
              <a:t>Build Power BI review dashboard</a:t>
            </a:r>
            <a:endParaRPr sz="1500">
              <a:solidFill>
                <a:srgbClr val="000000"/>
              </a:solidFill>
            </a:endParaRPr>
          </a:p>
          <a:p>
            <a:pPr indent="-323850" lvl="0" marL="457200" rtl="0" algn="l">
              <a:lnSpc>
                <a:spcPct val="105000"/>
              </a:lnSpc>
              <a:spcBef>
                <a:spcPts val="0"/>
              </a:spcBef>
              <a:spcAft>
                <a:spcPts val="0"/>
              </a:spcAft>
              <a:buClr>
                <a:srgbClr val="000000"/>
              </a:buClr>
              <a:buSzPts val="1500"/>
              <a:buAutoNum type="arabicPeriod"/>
            </a:pPr>
            <a:r>
              <a:rPr lang="en" sz="1500">
                <a:solidFill>
                  <a:srgbClr val="000000"/>
                </a:solidFill>
              </a:rPr>
              <a:t>Add drill through explanations showing why individual records received high anomaly scores</a:t>
            </a:r>
            <a:endParaRPr sz="1500">
              <a:solidFill>
                <a:srgbClr val="000000"/>
              </a:solidFill>
            </a:endParaRPr>
          </a:p>
          <a:p>
            <a:pPr indent="-323850" lvl="0" marL="457200" rtl="0" algn="l">
              <a:lnSpc>
                <a:spcPct val="105000"/>
              </a:lnSpc>
              <a:spcBef>
                <a:spcPts val="0"/>
              </a:spcBef>
              <a:spcAft>
                <a:spcPts val="0"/>
              </a:spcAft>
              <a:buClr>
                <a:srgbClr val="000000"/>
              </a:buClr>
              <a:buSzPts val="1500"/>
              <a:buAutoNum type="arabicPeriod"/>
            </a:pPr>
            <a:r>
              <a:rPr lang="en" sz="1500">
                <a:solidFill>
                  <a:srgbClr val="000000"/>
                </a:solidFill>
              </a:rPr>
              <a:t>Find standard columns for the df</a:t>
            </a:r>
            <a:endParaRPr sz="1500">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